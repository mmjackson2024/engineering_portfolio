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sldIdLst>
    <p:sldId id="256" r:id="rId5"/>
    <p:sldId id="263" r:id="rId6"/>
    <p:sldId id="261" r:id="rId7"/>
    <p:sldId id="257" r:id="rId8"/>
    <p:sldId id="258" r:id="rId9"/>
    <p:sldId id="264" r:id="rId10"/>
    <p:sldId id="266" r:id="rId11"/>
    <p:sldId id="267" r:id="rId12"/>
    <p:sldId id="260" r:id="rId13"/>
    <p:sldId id="262" r:id="rId14"/>
    <p:sldId id="259" r:id="rId15"/>
    <p:sldId id="265" r:id="rId16"/>
  </p:sldIdLst>
  <p:sldSz cx="7772400" cy="10058400"/>
  <p:notesSz cx="7315200" cy="96012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3" d="100"/>
          <a:sy n="53" d="100"/>
        </p:scale>
        <p:origin x="2568"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ew M Jackson" userId="1b6e7e6e-59cb-481b-aaaf-06bf6e59c6aa" providerId="ADAL" clId="{590C914A-2509-4D42-AE32-A76FAC229BE8}"/>
    <pc:docChg chg="addSld modSld">
      <pc:chgData name="Mathew M Jackson" userId="1b6e7e6e-59cb-481b-aaaf-06bf6e59c6aa" providerId="ADAL" clId="{590C914A-2509-4D42-AE32-A76FAC229BE8}" dt="2026-07-10T17:55:05.318" v="0"/>
      <pc:docMkLst>
        <pc:docMk/>
      </pc:docMkLst>
      <pc:sldChg chg="add">
        <pc:chgData name="Mathew M Jackson" userId="1b6e7e6e-59cb-481b-aaaf-06bf6e59c6aa" providerId="ADAL" clId="{590C914A-2509-4D42-AE32-A76FAC229BE8}" dt="2026-07-10T17:55:05.318" v="0"/>
        <pc:sldMkLst>
          <pc:docMk/>
          <pc:sldMk cId="1055935558"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936904" y="3500558"/>
            <a:ext cx="5898592" cy="2414016"/>
          </a:xfrm>
          <a:solidFill>
            <a:srgbClr val="FFFFFF"/>
          </a:solidFill>
          <a:ln w="38100">
            <a:solidFill>
              <a:srgbClr val="404040"/>
            </a:solidFill>
          </a:ln>
        </p:spPr>
        <p:txBody>
          <a:bodyPr lIns="274320" rIns="274320" anchor="ctr" anchorCtr="1">
            <a:normAutofit/>
          </a:bodyPr>
          <a:lstStyle>
            <a:lvl1pPr algn="ctr">
              <a:defRPr sz="2975">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1718187" y="6383731"/>
            <a:ext cx="4336028" cy="1818511"/>
          </a:xfrm>
          <a:noFill/>
        </p:spPr>
        <p:txBody>
          <a:bodyPr>
            <a:normAutofit/>
          </a:bodyPr>
          <a:lstStyle>
            <a:lvl1pPr marL="0" indent="0" algn="ctr">
              <a:buNone/>
              <a:defRPr sz="1615">
                <a:solidFill>
                  <a:schemeClr val="tx1">
                    <a:lumMod val="75000"/>
                    <a:lumOff val="25000"/>
                  </a:schemeClr>
                </a:solidFill>
              </a:defRPr>
            </a:lvl1pPr>
            <a:lvl2pPr marL="388620" indent="0" algn="ctr">
              <a:buNone/>
              <a:defRPr sz="1615"/>
            </a:lvl2pPr>
            <a:lvl3pPr marL="777240" indent="0" algn="ctr">
              <a:buNone/>
              <a:defRPr sz="1530"/>
            </a:lvl3pPr>
            <a:lvl4pPr marL="1165860" indent="0" algn="ctr">
              <a:buNone/>
              <a:defRPr sz="1360"/>
            </a:lvl4pPr>
            <a:lvl5pPr marL="1554480" indent="0" algn="ctr">
              <a:buNone/>
              <a:defRPr sz="1360"/>
            </a:lvl5pPr>
            <a:lvl6pPr marL="1943100" indent="0" algn="ctr">
              <a:buNone/>
              <a:defRPr sz="1360"/>
            </a:lvl6pPr>
            <a:lvl7pPr marL="2331720" indent="0" algn="ctr">
              <a:buNone/>
              <a:defRPr sz="1360"/>
            </a:lvl7pPr>
            <a:lvl8pPr marL="2720340" indent="0" algn="ctr">
              <a:buNone/>
              <a:defRPr sz="1360"/>
            </a:lvl8pPr>
            <a:lvl9pPr marL="3108960" indent="0" algn="ctr">
              <a:buNone/>
              <a:defRPr sz="136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49DD486E-ED74-4A10-9696-612EC6DD1471}"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60087167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DD486E-ED74-4A10-9696-612EC6DD1471}"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38645976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940460" y="3500558"/>
            <a:ext cx="5899252" cy="2414016"/>
          </a:xfrm>
          <a:solidFill>
            <a:srgbClr val="FFFFFF"/>
          </a:solidFill>
          <a:ln w="38100">
            <a:solidFill>
              <a:srgbClr val="404040"/>
            </a:solidFill>
          </a:ln>
        </p:spPr>
        <p:txBody>
          <a:bodyPr lIns="274320" rIns="274320" anchor="ctr" anchorCtr="1">
            <a:normAutofit/>
          </a:bodyPr>
          <a:lstStyle>
            <a:lvl1pPr>
              <a:defRPr sz="2975">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1718187" y="6383615"/>
            <a:ext cx="4336028" cy="1855454"/>
          </a:xfrm>
        </p:spPr>
        <p:txBody>
          <a:bodyPr anchor="t" anchorCtr="1">
            <a:normAutofit/>
          </a:bodyPr>
          <a:lstStyle>
            <a:lvl1pPr marL="0" indent="0">
              <a:buNone/>
              <a:defRPr sz="1615">
                <a:solidFill>
                  <a:schemeClr val="tx1"/>
                </a:solidFill>
              </a:defRPr>
            </a:lvl1pPr>
            <a:lvl2pPr marL="388620" indent="0">
              <a:buNone/>
              <a:defRPr sz="1615">
                <a:solidFill>
                  <a:schemeClr val="tx1">
                    <a:tint val="75000"/>
                  </a:schemeClr>
                </a:solidFill>
              </a:defRPr>
            </a:lvl2pPr>
            <a:lvl3pPr marL="777240" indent="0">
              <a:buNone/>
              <a:defRPr sz="1530">
                <a:solidFill>
                  <a:schemeClr val="tx1">
                    <a:tint val="75000"/>
                  </a:schemeClr>
                </a:solidFill>
              </a:defRPr>
            </a:lvl3pPr>
            <a:lvl4pPr marL="1165860" indent="0">
              <a:buNone/>
              <a:defRPr sz="1360">
                <a:solidFill>
                  <a:schemeClr val="tx1">
                    <a:tint val="75000"/>
                  </a:schemeClr>
                </a:solidFill>
              </a:defRPr>
            </a:lvl4pPr>
            <a:lvl5pPr marL="1554480" indent="0">
              <a:buNone/>
              <a:defRPr sz="1360">
                <a:solidFill>
                  <a:schemeClr val="tx1">
                    <a:tint val="75000"/>
                  </a:schemeClr>
                </a:solidFill>
              </a:defRPr>
            </a:lvl5pPr>
            <a:lvl6pPr marL="1943100" indent="0">
              <a:buNone/>
              <a:defRPr sz="1360">
                <a:solidFill>
                  <a:schemeClr val="tx1">
                    <a:tint val="75000"/>
                  </a:schemeClr>
                </a:solidFill>
              </a:defRPr>
            </a:lvl6pPr>
            <a:lvl7pPr marL="2331720" indent="0">
              <a:buNone/>
              <a:defRPr sz="1360">
                <a:solidFill>
                  <a:schemeClr val="tx1">
                    <a:tint val="75000"/>
                  </a:schemeClr>
                </a:solidFill>
              </a:defRPr>
            </a:lvl7pPr>
            <a:lvl8pPr marL="2720340" indent="0">
              <a:buNone/>
              <a:defRPr sz="1360">
                <a:solidFill>
                  <a:schemeClr val="tx1">
                    <a:tint val="75000"/>
                  </a:schemeClr>
                </a:solidFill>
              </a:defRPr>
            </a:lvl8pPr>
            <a:lvl9pPr marL="3108960" indent="0">
              <a:buNone/>
              <a:defRPr sz="136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49DD486E-ED74-4A10-9696-612EC6DD1471}"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1098357967"/>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36903" y="3869131"/>
            <a:ext cx="2794820" cy="45495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40676" y="3869131"/>
            <a:ext cx="2796939" cy="45495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49DD486E-ED74-4A10-9696-612EC6DD1471}" type="datetimeFigureOut">
              <a:rPr lang="en-US" smtClean="0"/>
              <a:t>8/6/2026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3492464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36903" y="3393037"/>
            <a:ext cx="2794820" cy="1032661"/>
          </a:xfrm>
        </p:spPr>
        <p:txBody>
          <a:bodyPr anchor="b" anchorCtr="1">
            <a:normAutofit/>
          </a:bodyPr>
          <a:lstStyle>
            <a:lvl1pPr marL="0" indent="0" algn="ctr">
              <a:buNone/>
              <a:defRPr sz="1615" b="0" cap="all" spc="85" baseline="0">
                <a:solidFill>
                  <a:schemeClr val="accent2">
                    <a:lumMod val="75000"/>
                  </a:schemeClr>
                </a:solidFill>
              </a:defRPr>
            </a:lvl1pPr>
            <a:lvl2pPr marL="388620" indent="0">
              <a:buNone/>
              <a:defRPr sz="1615"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4" name="Content Placeholder 3"/>
          <p:cNvSpPr>
            <a:spLocks noGrp="1"/>
          </p:cNvSpPr>
          <p:nvPr>
            <p:ph sz="half" idx="2"/>
          </p:nvPr>
        </p:nvSpPr>
        <p:spPr>
          <a:xfrm>
            <a:off x="936903" y="4610100"/>
            <a:ext cx="2794820" cy="38086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040676" y="4610100"/>
            <a:ext cx="2796939" cy="3808605"/>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040676" y="3393037"/>
            <a:ext cx="2796939" cy="1032661"/>
          </a:xfrm>
        </p:spPr>
        <p:txBody>
          <a:bodyPr anchor="b" anchorCtr="1">
            <a:normAutofit/>
          </a:bodyPr>
          <a:lstStyle>
            <a:lvl1pPr marL="0" indent="0" algn="ctr">
              <a:buNone/>
              <a:defRPr sz="1615" b="0" cap="all" spc="85" baseline="0">
                <a:solidFill>
                  <a:schemeClr val="accent2">
                    <a:lumMod val="75000"/>
                  </a:schemeClr>
                </a:solidFill>
              </a:defRPr>
            </a:lvl1pPr>
            <a:lvl2pPr marL="388620" indent="0">
              <a:buNone/>
              <a:defRPr sz="1615" b="1"/>
            </a:lvl2pPr>
            <a:lvl3pPr marL="777240" indent="0">
              <a:buNone/>
              <a:defRPr sz="1530" b="1"/>
            </a:lvl3pPr>
            <a:lvl4pPr marL="1165860" indent="0">
              <a:buNone/>
              <a:defRPr sz="1360" b="1"/>
            </a:lvl4pPr>
            <a:lvl5pPr marL="1554480" indent="0">
              <a:buNone/>
              <a:defRPr sz="1360" b="1"/>
            </a:lvl5pPr>
            <a:lvl6pPr marL="1943100" indent="0">
              <a:buNone/>
              <a:defRPr sz="1360" b="1"/>
            </a:lvl6pPr>
            <a:lvl7pPr marL="2331720" indent="0">
              <a:buNone/>
              <a:defRPr sz="1360" b="1"/>
            </a:lvl7pPr>
            <a:lvl8pPr marL="2720340" indent="0">
              <a:buNone/>
              <a:defRPr sz="1360" b="1"/>
            </a:lvl8pPr>
            <a:lvl9pPr marL="3108960" indent="0">
              <a:buNone/>
              <a:defRPr sz="1360" b="1"/>
            </a:lvl9pPr>
          </a:lstStyle>
          <a:p>
            <a:pPr lvl="0"/>
            <a:r>
              <a:rPr lang="en-US"/>
              <a:t>Click to edit Master text styles</a:t>
            </a:r>
          </a:p>
        </p:txBody>
      </p:sp>
      <p:sp>
        <p:nvSpPr>
          <p:cNvPr id="7" name="Date Placeholder 6"/>
          <p:cNvSpPr>
            <a:spLocks noGrp="1"/>
          </p:cNvSpPr>
          <p:nvPr>
            <p:ph type="dt" sz="half" idx="10"/>
          </p:nvPr>
        </p:nvSpPr>
        <p:spPr/>
        <p:txBody>
          <a:bodyPr/>
          <a:lstStyle/>
          <a:p>
            <a:fld id="{49DD486E-ED74-4A10-9696-612EC6DD1471}"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A0BBBBE-0CEF-482B-B23D-4C2002023953}"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6971974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9DD486E-ED74-4A10-9696-612EC6DD1471}"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1739175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DD486E-ED74-4A10-9696-612EC6DD1471}"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922883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3886200" cy="10058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544598" y="3290950"/>
            <a:ext cx="2797005" cy="1674196"/>
          </a:xfrm>
          <a:solidFill>
            <a:srgbClr val="FFFFFF"/>
          </a:solidFill>
          <a:ln>
            <a:solidFill>
              <a:srgbClr val="404040"/>
            </a:solidFill>
          </a:ln>
        </p:spPr>
        <p:txBody>
          <a:bodyPr anchor="ctr" anchorCtr="1">
            <a:normAutofit/>
          </a:bodyPr>
          <a:lstStyle>
            <a:lvl1pPr>
              <a:defRPr sz="1785">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4294251" y="1180186"/>
            <a:ext cx="3070098" cy="7698029"/>
          </a:xfrm>
        </p:spPr>
        <p:txBody>
          <a:bodyPr>
            <a:normAutofit/>
          </a:bodyPr>
          <a:lstStyle>
            <a:lvl1pPr>
              <a:defRPr sz="1615">
                <a:solidFill>
                  <a:schemeClr val="tx1"/>
                </a:solidFill>
              </a:defRPr>
            </a:lvl1pPr>
            <a:lvl2pPr>
              <a:defRPr sz="1360">
                <a:solidFill>
                  <a:schemeClr val="tx1"/>
                </a:solidFill>
              </a:defRPr>
            </a:lvl2pPr>
            <a:lvl3pPr>
              <a:defRPr sz="1360">
                <a:solidFill>
                  <a:schemeClr val="tx1"/>
                </a:solidFill>
              </a:defRPr>
            </a:lvl3pPr>
            <a:lvl4pPr>
              <a:defRPr sz="1360">
                <a:solidFill>
                  <a:schemeClr val="tx1"/>
                </a:solidFill>
              </a:defRPr>
            </a:lvl4pPr>
            <a:lvl5pPr>
              <a:defRPr sz="1360">
                <a:solidFill>
                  <a:schemeClr val="tx1"/>
                </a:solidFill>
              </a:defRPr>
            </a:lvl5pPr>
            <a:lvl6pPr>
              <a:defRPr sz="1360"/>
            </a:lvl6pPr>
            <a:lvl7pPr>
              <a:defRPr sz="1360"/>
            </a:lvl7pPr>
            <a:lvl8pPr>
              <a:defRPr sz="1360"/>
            </a:lvl8pPr>
            <a:lvl9pPr>
              <a:defRPr sz="136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33520" y="5206547"/>
            <a:ext cx="2419160" cy="3217919"/>
          </a:xfrm>
        </p:spPr>
        <p:txBody>
          <a:bodyPr anchor="t" anchorCtr="1">
            <a:normAutofit/>
          </a:bodyPr>
          <a:lstStyle>
            <a:lvl1pPr marL="0" indent="0" algn="ctr">
              <a:buNone/>
              <a:defRPr sz="1275">
                <a:solidFill>
                  <a:srgbClr val="FFFFFF"/>
                </a:solidFill>
              </a:defRPr>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9" name="Date Placeholder 8"/>
          <p:cNvSpPr>
            <a:spLocks noGrp="1"/>
          </p:cNvSpPr>
          <p:nvPr>
            <p:ph type="dt" sz="half" idx="10"/>
          </p:nvPr>
        </p:nvSpPr>
        <p:spPr/>
        <p:txBody>
          <a:bodyPr/>
          <a:lstStyle/>
          <a:p>
            <a:fld id="{49DD486E-ED74-4A10-9696-612EC6DD1471}" type="datetimeFigureOut">
              <a:rPr lang="en-US" smtClean="0"/>
              <a:t>8/6/2026</a:t>
            </a:fld>
            <a:endParaRPr lang="en-US"/>
          </a:p>
        </p:txBody>
      </p:sp>
      <p:sp>
        <p:nvSpPr>
          <p:cNvPr id="10" name="Footer Placeholder 9"/>
          <p:cNvSpPr>
            <a:spLocks noGrp="1"/>
          </p:cNvSpPr>
          <p:nvPr>
            <p:ph type="ftr" sz="quarter" idx="11"/>
          </p:nvPr>
        </p:nvSpPr>
        <p:spPr>
          <a:xfrm>
            <a:off x="544598" y="9146438"/>
            <a:ext cx="3235438" cy="469392"/>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3562858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3886199" cy="10058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544068" y="3290948"/>
            <a:ext cx="2798064" cy="1676400"/>
          </a:xfrm>
          <a:solidFill>
            <a:srgbClr val="FFFFFF"/>
          </a:solidFill>
          <a:ln>
            <a:solidFill>
              <a:srgbClr val="262626"/>
            </a:solidFill>
          </a:ln>
        </p:spPr>
        <p:txBody>
          <a:bodyPr anchor="ctr" anchorCtr="1">
            <a:noAutofit/>
          </a:bodyPr>
          <a:lstStyle>
            <a:lvl1pPr>
              <a:defRPr sz="1785">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6200" y="-61852"/>
            <a:ext cx="3890087" cy="10058400"/>
          </a:xfrm>
          <a:solidFill>
            <a:schemeClr val="bg1">
              <a:lumMod val="75000"/>
            </a:schemeClr>
          </a:solidFill>
        </p:spPr>
        <p:txBody>
          <a:bodyPr anchor="t"/>
          <a:lstStyle>
            <a:lvl1pPr marL="0" indent="0">
              <a:buNone/>
              <a:defRPr sz="2720">
                <a:solidFill>
                  <a:schemeClr val="bg1">
                    <a:lumMod val="85000"/>
                    <a:lumOff val="15000"/>
                  </a:schemeClr>
                </a:solidFill>
              </a:defRPr>
            </a:lvl1pPr>
            <a:lvl2pPr marL="388620" indent="0">
              <a:buNone/>
              <a:defRPr sz="2380"/>
            </a:lvl2pPr>
            <a:lvl3pPr marL="777240" indent="0">
              <a:buNone/>
              <a:defRPr sz="2040"/>
            </a:lvl3pPr>
            <a:lvl4pPr marL="1165860" indent="0">
              <a:buNone/>
              <a:defRPr sz="1700"/>
            </a:lvl4pPr>
            <a:lvl5pPr marL="1554480" indent="0">
              <a:buNone/>
              <a:defRPr sz="1700"/>
            </a:lvl5pPr>
            <a:lvl6pPr marL="1943100" indent="0">
              <a:buNone/>
              <a:defRPr sz="1700"/>
            </a:lvl6pPr>
            <a:lvl7pPr marL="2331720" indent="0">
              <a:buNone/>
              <a:defRPr sz="1700"/>
            </a:lvl7pPr>
            <a:lvl8pPr marL="2720340" indent="0">
              <a:buNone/>
              <a:defRPr sz="1700"/>
            </a:lvl8pPr>
            <a:lvl9pPr marL="3108960" indent="0">
              <a:buNone/>
              <a:defRPr sz="1700"/>
            </a:lvl9pPr>
          </a:lstStyle>
          <a:p>
            <a:r>
              <a:rPr lang="en-US"/>
              <a:t>Click icon to add picture</a:t>
            </a:r>
            <a:endParaRPr lang="en-US" dirty="0"/>
          </a:p>
        </p:txBody>
      </p:sp>
      <p:sp>
        <p:nvSpPr>
          <p:cNvPr id="4" name="Text Placeholder 3"/>
          <p:cNvSpPr>
            <a:spLocks noGrp="1"/>
          </p:cNvSpPr>
          <p:nvPr>
            <p:ph type="body" sz="half" idx="2"/>
          </p:nvPr>
        </p:nvSpPr>
        <p:spPr>
          <a:xfrm>
            <a:off x="733520" y="5206549"/>
            <a:ext cx="2419160" cy="3217921"/>
          </a:xfrm>
        </p:spPr>
        <p:txBody>
          <a:bodyPr anchor="t" anchorCtr="1">
            <a:normAutofit/>
          </a:bodyPr>
          <a:lstStyle>
            <a:lvl1pPr marL="0" indent="0" algn="ctr">
              <a:buNone/>
              <a:defRPr sz="1275">
                <a:solidFill>
                  <a:srgbClr val="FFFFFF"/>
                </a:solidFill>
              </a:defRPr>
            </a:lvl1pPr>
            <a:lvl2pPr marL="388620" indent="0">
              <a:buNone/>
              <a:defRPr sz="1190"/>
            </a:lvl2pPr>
            <a:lvl3pPr marL="777240" indent="0">
              <a:buNone/>
              <a:defRPr sz="1020"/>
            </a:lvl3pPr>
            <a:lvl4pPr marL="1165860" indent="0">
              <a:buNone/>
              <a:defRPr sz="850"/>
            </a:lvl4pPr>
            <a:lvl5pPr marL="1554480" indent="0">
              <a:buNone/>
              <a:defRPr sz="850"/>
            </a:lvl5pPr>
            <a:lvl6pPr marL="1943100" indent="0">
              <a:buNone/>
              <a:defRPr sz="850"/>
            </a:lvl6pPr>
            <a:lvl7pPr marL="2331720" indent="0">
              <a:buNone/>
              <a:defRPr sz="850"/>
            </a:lvl7pPr>
            <a:lvl8pPr marL="2720340" indent="0">
              <a:buNone/>
              <a:defRPr sz="850"/>
            </a:lvl8pPr>
            <a:lvl9pPr marL="3108960" indent="0">
              <a:buNone/>
              <a:defRPr sz="85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49DD486E-ED74-4A10-9696-612EC6DD1471}" type="datetimeFigureOut">
              <a:rPr lang="en-US" smtClean="0"/>
              <a:t>8/6/2026</a:t>
            </a:fld>
            <a:endParaRPr lang="en-US"/>
          </a:p>
        </p:txBody>
      </p:sp>
      <p:sp>
        <p:nvSpPr>
          <p:cNvPr id="9" name="Footer Placeholder 8"/>
          <p:cNvSpPr>
            <a:spLocks noGrp="1"/>
          </p:cNvSpPr>
          <p:nvPr>
            <p:ph type="ftr" sz="quarter" idx="11"/>
          </p:nvPr>
        </p:nvSpPr>
        <p:spPr>
          <a:xfrm>
            <a:off x="544068" y="9146438"/>
            <a:ext cx="3233318" cy="469392"/>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6459172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DD486E-ED74-4A10-9696-612EC6DD1471}"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3324060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16359" y="1374648"/>
            <a:ext cx="895871" cy="73091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65139" y="1374648"/>
            <a:ext cx="4008748" cy="730910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9DD486E-ED74-4A10-9696-612EC6DD1471}"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A0BBBBE-0CEF-482B-B23D-4C2002023953}" type="slidenum">
              <a:rPr lang="en-US" smtClean="0"/>
              <a:t>‹#›</a:t>
            </a:fld>
            <a:endParaRPr lang="en-US"/>
          </a:p>
        </p:txBody>
      </p:sp>
    </p:spTree>
    <p:extLst>
      <p:ext uri="{BB962C8B-B14F-4D97-AF65-F5344CB8AC3E}">
        <p14:creationId xmlns:p14="http://schemas.microsoft.com/office/powerpoint/2010/main" val="1039716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365139" y="1414882"/>
            <a:ext cx="5047092" cy="1743456"/>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365139" y="3869133"/>
            <a:ext cx="5047092" cy="454957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082101" y="9150264"/>
            <a:ext cx="1755514" cy="475153"/>
          </a:xfrm>
          <a:prstGeom prst="rect">
            <a:avLst/>
          </a:prstGeom>
        </p:spPr>
        <p:txBody>
          <a:bodyPr vert="horz" lIns="91440" tIns="45720" rIns="91440" bIns="45720" rtlCol="0" anchor="ctr"/>
          <a:lstStyle>
            <a:lvl1pPr algn="r">
              <a:defRPr sz="850">
                <a:solidFill>
                  <a:schemeClr val="tx1">
                    <a:alpha val="70000"/>
                  </a:schemeClr>
                </a:solidFill>
              </a:defRPr>
            </a:lvl1pPr>
          </a:lstStyle>
          <a:p>
            <a:fld id="{49DD486E-ED74-4A10-9696-612EC6DD1471}" type="datetimeFigureOut">
              <a:rPr lang="en-US" smtClean="0"/>
              <a:t>8/6/2026</a:t>
            </a:fld>
            <a:endParaRPr lang="en-US"/>
          </a:p>
        </p:txBody>
      </p:sp>
      <p:sp>
        <p:nvSpPr>
          <p:cNvPr id="5" name="Footer Placeholder 4"/>
          <p:cNvSpPr>
            <a:spLocks noGrp="1"/>
          </p:cNvSpPr>
          <p:nvPr>
            <p:ph type="ftr" sz="quarter" idx="3"/>
          </p:nvPr>
        </p:nvSpPr>
        <p:spPr>
          <a:xfrm>
            <a:off x="936903" y="9146438"/>
            <a:ext cx="3873164" cy="469392"/>
          </a:xfrm>
          <a:prstGeom prst="rect">
            <a:avLst/>
          </a:prstGeom>
        </p:spPr>
        <p:txBody>
          <a:bodyPr vert="horz" lIns="91440" tIns="45720" rIns="91440" bIns="45720" rtlCol="0" anchor="ctr"/>
          <a:lstStyle>
            <a:lvl1pPr algn="l">
              <a:defRPr sz="85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7004095" y="9119616"/>
            <a:ext cx="310896" cy="536448"/>
          </a:xfrm>
          <a:prstGeom prst="ellipse">
            <a:avLst/>
          </a:prstGeom>
          <a:solidFill>
            <a:srgbClr val="1D1D1D">
              <a:alpha val="69804"/>
            </a:srgbClr>
          </a:solidFill>
        </p:spPr>
        <p:txBody>
          <a:bodyPr vert="horz" lIns="18288" tIns="45720" rIns="18288" bIns="45720" rtlCol="0" anchor="ctr">
            <a:noAutofit/>
          </a:bodyPr>
          <a:lstStyle>
            <a:lvl1pPr algn="ctr">
              <a:defRPr sz="935" spc="0" baseline="0">
                <a:solidFill>
                  <a:srgbClr val="FFFFFF"/>
                </a:solidFill>
              </a:defRPr>
            </a:lvl1pPr>
          </a:lstStyle>
          <a:p>
            <a:fld id="{EA0BBBBE-0CEF-482B-B23D-4C2002023953}" type="slidenum">
              <a:rPr lang="en-US" smtClean="0"/>
              <a:t>‹#›</a:t>
            </a:fld>
            <a:endParaRPr lang="en-US"/>
          </a:p>
        </p:txBody>
      </p:sp>
    </p:spTree>
    <p:extLst>
      <p:ext uri="{BB962C8B-B14F-4D97-AF65-F5344CB8AC3E}">
        <p14:creationId xmlns:p14="http://schemas.microsoft.com/office/powerpoint/2010/main" val="349975775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777240" rtl="0" eaLnBrk="1" latinLnBrk="0" hangingPunct="1">
        <a:lnSpc>
          <a:spcPct val="90000"/>
        </a:lnSpc>
        <a:spcBef>
          <a:spcPct val="0"/>
        </a:spcBef>
        <a:buNone/>
        <a:defRPr sz="2210" kern="1200" cap="all" spc="170" baseline="0">
          <a:solidFill>
            <a:srgbClr val="262626"/>
          </a:solidFill>
          <a:latin typeface="+mj-lt"/>
          <a:ea typeface="+mj-ea"/>
          <a:cs typeface="+mj-cs"/>
        </a:defRPr>
      </a:lvl1pPr>
    </p:titleStyle>
    <p:bodyStyle>
      <a:lvl1pPr marL="194310" indent="-194310" algn="l" defTabSz="777240" rtl="0" eaLnBrk="1" latinLnBrk="0" hangingPunct="1">
        <a:lnSpc>
          <a:spcPct val="100000"/>
        </a:lnSpc>
        <a:spcBef>
          <a:spcPts val="850"/>
        </a:spcBef>
        <a:buClr>
          <a:schemeClr val="accent2"/>
        </a:buClr>
        <a:buFont typeface="Arial" panose="020B0604020202020204" pitchFamily="34" charset="0"/>
        <a:buChar char="•"/>
        <a:defRPr sz="1530" kern="1200">
          <a:solidFill>
            <a:schemeClr val="tx1">
              <a:lumMod val="85000"/>
              <a:lumOff val="15000"/>
            </a:schemeClr>
          </a:solidFill>
          <a:latin typeface="+mn-lt"/>
          <a:ea typeface="+mn-ea"/>
          <a:cs typeface="+mn-cs"/>
        </a:defRPr>
      </a:lvl1pPr>
      <a:lvl2pPr marL="388620"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lumMod val="85000"/>
              <a:lumOff val="15000"/>
            </a:schemeClr>
          </a:solidFill>
          <a:latin typeface="+mn-lt"/>
          <a:ea typeface="+mn-ea"/>
          <a:cs typeface="+mn-cs"/>
        </a:defRPr>
      </a:lvl2pPr>
      <a:lvl3pPr marL="582930"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lumMod val="85000"/>
              <a:lumOff val="15000"/>
            </a:schemeClr>
          </a:solidFill>
          <a:latin typeface="+mn-lt"/>
          <a:ea typeface="+mn-ea"/>
          <a:cs typeface="+mn-cs"/>
        </a:defRPr>
      </a:lvl3pPr>
      <a:lvl4pPr marL="777240"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lumMod val="85000"/>
              <a:lumOff val="15000"/>
            </a:schemeClr>
          </a:solidFill>
          <a:latin typeface="+mn-lt"/>
          <a:ea typeface="+mn-ea"/>
          <a:cs typeface="+mn-cs"/>
        </a:defRPr>
      </a:lvl4pPr>
      <a:lvl5pPr marL="971550"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lumMod val="85000"/>
              <a:lumOff val="15000"/>
            </a:schemeClr>
          </a:solidFill>
          <a:latin typeface="+mn-lt"/>
          <a:ea typeface="+mn-ea"/>
          <a:cs typeface="+mn-cs"/>
        </a:defRPr>
      </a:lvl5pPr>
      <a:lvl6pPr marL="1117283"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solidFill>
          <a:latin typeface="+mn-lt"/>
          <a:ea typeface="+mn-ea"/>
          <a:cs typeface="+mn-cs"/>
        </a:defRPr>
      </a:lvl6pPr>
      <a:lvl7pPr marL="1263015"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a:solidFill>
            <a:schemeClr val="tx1"/>
          </a:solidFill>
          <a:latin typeface="+mn-lt"/>
          <a:ea typeface="+mn-ea"/>
          <a:cs typeface="+mn-cs"/>
        </a:defRPr>
      </a:lvl7pPr>
      <a:lvl8pPr marL="1408748"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baseline="0">
          <a:solidFill>
            <a:schemeClr val="tx1"/>
          </a:solidFill>
          <a:latin typeface="+mn-lt"/>
          <a:ea typeface="+mn-ea"/>
          <a:cs typeface="+mn-cs"/>
        </a:defRPr>
      </a:lvl8pPr>
      <a:lvl9pPr marL="1554480" indent="-194310" algn="l" defTabSz="777240" rtl="0" eaLnBrk="1" latinLnBrk="0" hangingPunct="1">
        <a:lnSpc>
          <a:spcPct val="100000"/>
        </a:lnSpc>
        <a:spcBef>
          <a:spcPts val="850"/>
        </a:spcBef>
        <a:buClr>
          <a:schemeClr val="accent2"/>
        </a:buClr>
        <a:buFont typeface="Arial" panose="020B0604020202020204" pitchFamily="34" charset="0"/>
        <a:buChar char="•"/>
        <a:defRPr sz="1360" kern="1200" baseline="0">
          <a:solidFill>
            <a:schemeClr val="tx1"/>
          </a:solidFill>
          <a:latin typeface="+mn-lt"/>
          <a:ea typeface="+mn-ea"/>
          <a:cs typeface="+mn-cs"/>
        </a:defRPr>
      </a:lvl9pPr>
    </p:bodyStyle>
    <p:otherStyle>
      <a:defPPr>
        <a:defRPr lang="en-US"/>
      </a:defPPr>
      <a:lvl1pPr marL="0" algn="l" defTabSz="777240" rtl="0" eaLnBrk="1" latinLnBrk="0" hangingPunct="1">
        <a:defRPr sz="1530" kern="1200">
          <a:solidFill>
            <a:schemeClr val="tx1"/>
          </a:solidFill>
          <a:latin typeface="+mn-lt"/>
          <a:ea typeface="+mn-ea"/>
          <a:cs typeface="+mn-cs"/>
        </a:defRPr>
      </a:lvl1pPr>
      <a:lvl2pPr marL="388620" algn="l" defTabSz="777240" rtl="0" eaLnBrk="1" latinLnBrk="0" hangingPunct="1">
        <a:defRPr sz="1530" kern="1200">
          <a:solidFill>
            <a:schemeClr val="tx1"/>
          </a:solidFill>
          <a:latin typeface="+mn-lt"/>
          <a:ea typeface="+mn-ea"/>
          <a:cs typeface="+mn-cs"/>
        </a:defRPr>
      </a:lvl2pPr>
      <a:lvl3pPr marL="777240" algn="l" defTabSz="777240" rtl="0" eaLnBrk="1" latinLnBrk="0" hangingPunct="1">
        <a:defRPr sz="1530" kern="1200">
          <a:solidFill>
            <a:schemeClr val="tx1"/>
          </a:solidFill>
          <a:latin typeface="+mn-lt"/>
          <a:ea typeface="+mn-ea"/>
          <a:cs typeface="+mn-cs"/>
        </a:defRPr>
      </a:lvl3pPr>
      <a:lvl4pPr marL="1165860" algn="l" defTabSz="777240" rtl="0" eaLnBrk="1" latinLnBrk="0" hangingPunct="1">
        <a:defRPr sz="1530" kern="1200">
          <a:solidFill>
            <a:schemeClr val="tx1"/>
          </a:solidFill>
          <a:latin typeface="+mn-lt"/>
          <a:ea typeface="+mn-ea"/>
          <a:cs typeface="+mn-cs"/>
        </a:defRPr>
      </a:lvl4pPr>
      <a:lvl5pPr marL="1554480" algn="l" defTabSz="777240" rtl="0" eaLnBrk="1" latinLnBrk="0" hangingPunct="1">
        <a:defRPr sz="1530" kern="1200">
          <a:solidFill>
            <a:schemeClr val="tx1"/>
          </a:solidFill>
          <a:latin typeface="+mn-lt"/>
          <a:ea typeface="+mn-ea"/>
          <a:cs typeface="+mn-cs"/>
        </a:defRPr>
      </a:lvl5pPr>
      <a:lvl6pPr marL="1943100" algn="l" defTabSz="777240" rtl="0" eaLnBrk="1" latinLnBrk="0" hangingPunct="1">
        <a:defRPr sz="1530" kern="1200">
          <a:solidFill>
            <a:schemeClr val="tx1"/>
          </a:solidFill>
          <a:latin typeface="+mn-lt"/>
          <a:ea typeface="+mn-ea"/>
          <a:cs typeface="+mn-cs"/>
        </a:defRPr>
      </a:lvl6pPr>
      <a:lvl7pPr marL="2331720" algn="l" defTabSz="777240" rtl="0" eaLnBrk="1" latinLnBrk="0" hangingPunct="1">
        <a:defRPr sz="1530" kern="1200">
          <a:solidFill>
            <a:schemeClr val="tx1"/>
          </a:solidFill>
          <a:latin typeface="+mn-lt"/>
          <a:ea typeface="+mn-ea"/>
          <a:cs typeface="+mn-cs"/>
        </a:defRPr>
      </a:lvl7pPr>
      <a:lvl8pPr marL="2720340" algn="l" defTabSz="777240" rtl="0" eaLnBrk="1" latinLnBrk="0" hangingPunct="1">
        <a:defRPr sz="1530" kern="1200">
          <a:solidFill>
            <a:schemeClr val="tx1"/>
          </a:solidFill>
          <a:latin typeface="+mn-lt"/>
          <a:ea typeface="+mn-ea"/>
          <a:cs typeface="+mn-cs"/>
        </a:defRPr>
      </a:lvl8pPr>
      <a:lvl9pPr marL="3108960" algn="l" defTabSz="777240" rtl="0" eaLnBrk="1" latinLnBrk="0" hangingPunct="1">
        <a:defRPr sz="15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www.linkedin.com/in/mathew-jackson-b91940295" TargetMode="External"/><Relationship Id="rId2" Type="http://schemas.openxmlformats.org/officeDocument/2006/relationships/hyperlink" Target="mailto:m.mrjackson@vikes.csuohio.edu" TargetMode="External"/><Relationship Id="rId1" Type="http://schemas.openxmlformats.org/officeDocument/2006/relationships/slideLayout" Target="../slideLayouts/slideLayout1.xml"/><Relationship Id="rId5" Type="http://schemas.openxmlformats.org/officeDocument/2006/relationships/image" Target="../media/image2.jp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jp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jpe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58E079-1016-1120-A8D9-F64C1B049308}"/>
              </a:ext>
            </a:extLst>
          </p:cNvPr>
          <p:cNvSpPr>
            <a:spLocks noGrp="1"/>
          </p:cNvSpPr>
          <p:nvPr>
            <p:ph type="ctrTitle"/>
          </p:nvPr>
        </p:nvSpPr>
        <p:spPr>
          <a:xfrm>
            <a:off x="936904" y="314749"/>
            <a:ext cx="5898592" cy="2414016"/>
          </a:xfrm>
        </p:spPr>
        <p:txBody>
          <a:bodyPr>
            <a:normAutofit/>
          </a:bodyPr>
          <a:lstStyle/>
          <a:p>
            <a:r>
              <a:rPr lang="en-US" sz="4000" dirty="0"/>
              <a:t>Engineering Portfolio</a:t>
            </a:r>
          </a:p>
        </p:txBody>
      </p:sp>
      <p:sp>
        <p:nvSpPr>
          <p:cNvPr id="3" name="Subtitle 2">
            <a:extLst>
              <a:ext uri="{FF2B5EF4-FFF2-40B4-BE49-F238E27FC236}">
                <a16:creationId xmlns:a16="http://schemas.microsoft.com/office/drawing/2014/main" id="{A71E44C3-70BE-73B0-642E-B71223880B24}"/>
              </a:ext>
            </a:extLst>
          </p:cNvPr>
          <p:cNvSpPr>
            <a:spLocks noGrp="1"/>
          </p:cNvSpPr>
          <p:nvPr>
            <p:ph type="subTitle" idx="1"/>
          </p:nvPr>
        </p:nvSpPr>
        <p:spPr>
          <a:xfrm>
            <a:off x="0" y="4525518"/>
            <a:ext cx="7772400" cy="5598475"/>
          </a:xfrm>
          <a:noFill/>
          <a:ln w="28575">
            <a:solidFill>
              <a:schemeClr val="bg1"/>
            </a:solidFill>
          </a:ln>
        </p:spPr>
        <p:txBody>
          <a:bodyPr>
            <a:normAutofit/>
          </a:bodyPr>
          <a:lstStyle/>
          <a:p>
            <a:pPr algn="l"/>
            <a:r>
              <a:rPr lang="en-US" sz="1800" b="1" u="sng" dirty="0">
                <a:solidFill>
                  <a:schemeClr val="bg1"/>
                </a:solidFill>
              </a:rPr>
              <a:t>ABOUT ME</a:t>
            </a:r>
          </a:p>
          <a:p>
            <a:pPr algn="l"/>
            <a:r>
              <a:rPr lang="en-US" sz="1600" b="1" dirty="0">
                <a:solidFill>
                  <a:schemeClr val="bg1"/>
                </a:solidFill>
              </a:rPr>
              <a:t>Mathew Jackson</a:t>
            </a:r>
          </a:p>
          <a:p>
            <a:pPr algn="l"/>
            <a:r>
              <a:rPr lang="en-US" sz="1600" b="1" dirty="0">
                <a:solidFill>
                  <a:schemeClr val="bg1"/>
                </a:solidFill>
              </a:rPr>
              <a:t>Junior Mechanical Engineering Student (Class of 2028)</a:t>
            </a:r>
          </a:p>
          <a:p>
            <a:pPr algn="l"/>
            <a:r>
              <a:rPr lang="en-US" sz="1600" b="1" dirty="0">
                <a:solidFill>
                  <a:schemeClr val="bg1"/>
                </a:solidFill>
              </a:rPr>
              <a:t>Cleveland State University – GPA: 3.94</a:t>
            </a:r>
          </a:p>
          <a:p>
            <a:pPr algn="l"/>
            <a:endParaRPr lang="en-US" sz="1600" b="1" dirty="0">
              <a:solidFill>
                <a:schemeClr val="bg1"/>
              </a:solidFill>
            </a:endParaRPr>
          </a:p>
          <a:p>
            <a:pPr algn="l"/>
            <a:r>
              <a:rPr lang="en-US" sz="1500" b="1" dirty="0">
                <a:solidFill>
                  <a:schemeClr val="bg1"/>
                </a:solidFill>
              </a:rPr>
              <a:t>Cell: (330) 390-5955</a:t>
            </a:r>
          </a:p>
          <a:p>
            <a:pPr algn="l"/>
            <a:r>
              <a:rPr lang="en-US" sz="1500" b="1" dirty="0">
                <a:solidFill>
                  <a:schemeClr val="bg1"/>
                </a:solidFill>
              </a:rPr>
              <a:t>Email: </a:t>
            </a:r>
            <a:r>
              <a:rPr lang="en-US" sz="1500" b="1" dirty="0">
                <a:solidFill>
                  <a:schemeClr val="bg1"/>
                </a:solidFill>
                <a:hlinkClick r:id="rId2"/>
              </a:rPr>
              <a:t>m.mrjackson@vikes.csuohio.edu</a:t>
            </a:r>
            <a:endParaRPr lang="en-US" sz="1500" b="1" dirty="0">
              <a:solidFill>
                <a:schemeClr val="bg1"/>
              </a:solidFill>
            </a:endParaRPr>
          </a:p>
          <a:p>
            <a:pPr algn="l"/>
            <a:r>
              <a:rPr lang="en-US" sz="1500" b="1" dirty="0">
                <a:solidFill>
                  <a:schemeClr val="bg1"/>
                </a:solidFill>
              </a:rPr>
              <a:t>LinkedIn: </a:t>
            </a:r>
            <a:r>
              <a:rPr lang="en-US" sz="1500" b="1" dirty="0">
                <a:solidFill>
                  <a:schemeClr val="bg1"/>
                </a:solidFill>
                <a:hlinkClick r:id="rId3"/>
              </a:rPr>
              <a:t>www.linkedin.com/in/mathew-jackson-b91940295</a:t>
            </a:r>
            <a:r>
              <a:rPr lang="en-US" sz="1500" b="1" dirty="0">
                <a:solidFill>
                  <a:schemeClr val="bg1"/>
                </a:solidFill>
              </a:rPr>
              <a:t> </a:t>
            </a:r>
          </a:p>
          <a:p>
            <a:pPr algn="l"/>
            <a:r>
              <a:rPr lang="en-US" sz="1500" b="1" dirty="0">
                <a:solidFill>
                  <a:schemeClr val="bg1"/>
                </a:solidFill>
              </a:rPr>
              <a:t>Interested In: Manufacturing Engineering, Engineering Design, Project Management</a:t>
            </a:r>
          </a:p>
          <a:p>
            <a:pPr algn="l"/>
            <a:r>
              <a:rPr lang="en-US" sz="1500" b="1" dirty="0">
                <a:solidFill>
                  <a:schemeClr val="bg1"/>
                </a:solidFill>
              </a:rPr>
              <a:t>Work/Leadership Experience:</a:t>
            </a:r>
          </a:p>
          <a:p>
            <a:pPr algn="l"/>
            <a:r>
              <a:rPr lang="en-US" sz="1500" b="1" dirty="0">
                <a:solidFill>
                  <a:schemeClr val="bg1"/>
                </a:solidFill>
              </a:rPr>
              <a:t>- Great Lakes Construction Company | Co-Op (Summer ‘26)</a:t>
            </a:r>
          </a:p>
          <a:p>
            <a:pPr algn="l"/>
            <a:r>
              <a:rPr lang="en-US" sz="1500" b="1" dirty="0">
                <a:solidFill>
                  <a:schemeClr val="bg1"/>
                </a:solidFill>
              </a:rPr>
              <a:t>- Lead Engineering Peer Teacher | Statics &amp; Fluid Mechanics (Spring ’26-present)</a:t>
            </a:r>
          </a:p>
          <a:p>
            <a:pPr algn="l"/>
            <a:r>
              <a:rPr lang="en-US" sz="1500" b="1" dirty="0">
                <a:solidFill>
                  <a:schemeClr val="bg1"/>
                </a:solidFill>
              </a:rPr>
              <a:t>- Rooted in Faith Life Group at CSU | President (Fall ‘25-present)</a:t>
            </a:r>
            <a:endParaRPr lang="en-US" sz="1800" b="1" dirty="0">
              <a:solidFill>
                <a:schemeClr val="bg1"/>
              </a:solidFill>
            </a:endParaRPr>
          </a:p>
          <a:p>
            <a:r>
              <a:rPr lang="en-US" sz="1500" b="1" u="sng" dirty="0">
                <a:solidFill>
                  <a:schemeClr val="bg1"/>
                </a:solidFill>
              </a:rPr>
              <a:t>SKILLS</a:t>
            </a:r>
          </a:p>
          <a:p>
            <a:r>
              <a:rPr lang="en-US" sz="1500" b="1" dirty="0">
                <a:solidFill>
                  <a:schemeClr val="bg1"/>
                </a:solidFill>
              </a:rPr>
              <a:t>SOLIDWORKS, MATLAB, Microsoft Office, Engineering Drawing Comprehension, Leadership, Machining, Teaching, Collaboration</a:t>
            </a:r>
          </a:p>
        </p:txBody>
      </p:sp>
      <p:pic>
        <p:nvPicPr>
          <p:cNvPr id="5" name="Picture 4" descr="StageClip | &quot;Cleveland State University&quot;">
            <a:extLst>
              <a:ext uri="{FF2B5EF4-FFF2-40B4-BE49-F238E27FC236}">
                <a16:creationId xmlns:a16="http://schemas.microsoft.com/office/drawing/2014/main" id="{4423F1D7-67EF-2B25-1316-C273864C85FC}"/>
              </a:ext>
            </a:extLst>
          </p:cNvPr>
          <p:cNvPicPr>
            <a:picLocks noChangeAspect="1"/>
          </p:cNvPicPr>
          <p:nvPr/>
        </p:nvPicPr>
        <p:blipFill>
          <a:blip r:embed="rId4"/>
          <a:stretch>
            <a:fillRect/>
          </a:stretch>
        </p:blipFill>
        <p:spPr>
          <a:xfrm>
            <a:off x="971550" y="3122975"/>
            <a:ext cx="5829300" cy="1007207"/>
          </a:xfrm>
          <a:prstGeom prst="rect">
            <a:avLst/>
          </a:prstGeom>
        </p:spPr>
      </p:pic>
      <p:pic>
        <p:nvPicPr>
          <p:cNvPr id="6" name="Picture 5">
            <a:extLst>
              <a:ext uri="{FF2B5EF4-FFF2-40B4-BE49-F238E27FC236}">
                <a16:creationId xmlns:a16="http://schemas.microsoft.com/office/drawing/2014/main" id="{78A59443-90EA-561A-A659-5EC698D491E7}"/>
              </a:ext>
            </a:extLst>
          </p:cNvPr>
          <p:cNvPicPr>
            <a:picLocks noChangeAspect="1"/>
          </p:cNvPicPr>
          <p:nvPr/>
        </p:nvPicPr>
        <p:blipFill>
          <a:blip r:embed="rId5">
            <a:extLst>
              <a:ext uri="{28A0092B-C50C-407E-A947-70E740481C1C}">
                <a14:useLocalDpi xmlns:a14="http://schemas.microsoft.com/office/drawing/2010/main" val="0"/>
              </a:ext>
            </a:extLst>
          </a:blip>
          <a:srcRect l="17014" t="23048" r="19990" b="18692"/>
          <a:stretch>
            <a:fillRect/>
          </a:stretch>
        </p:blipFill>
        <p:spPr>
          <a:xfrm>
            <a:off x="5613400" y="4666502"/>
            <a:ext cx="1817240" cy="2520866"/>
          </a:xfrm>
          <a:prstGeom prst="rect">
            <a:avLst/>
          </a:prstGeom>
          <a:ln w="38100">
            <a:solidFill>
              <a:schemeClr val="bg1"/>
            </a:solidFill>
          </a:ln>
        </p:spPr>
      </p:pic>
    </p:spTree>
    <p:extLst>
      <p:ext uri="{BB962C8B-B14F-4D97-AF65-F5344CB8AC3E}">
        <p14:creationId xmlns:p14="http://schemas.microsoft.com/office/powerpoint/2010/main" val="3157731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E4BD4-7405-6636-0915-9D776663DFCE}"/>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C457438C-DBF8-4BE7-9511-FBD8C98AB0D1}"/>
              </a:ext>
            </a:extLst>
          </p:cNvPr>
          <p:cNvPicPr>
            <a:picLocks noChangeAspect="1"/>
          </p:cNvPicPr>
          <p:nvPr/>
        </p:nvPicPr>
        <p:blipFill>
          <a:blip r:embed="rId2"/>
          <a:stretch>
            <a:fillRect/>
          </a:stretch>
        </p:blipFill>
        <p:spPr>
          <a:xfrm>
            <a:off x="-78129" y="0"/>
            <a:ext cx="7928658" cy="10058400"/>
          </a:xfrm>
          <a:prstGeom prst="rect">
            <a:avLst/>
          </a:prstGeom>
        </p:spPr>
      </p:pic>
    </p:spTree>
    <p:extLst>
      <p:ext uri="{BB962C8B-B14F-4D97-AF65-F5344CB8AC3E}">
        <p14:creationId xmlns:p14="http://schemas.microsoft.com/office/powerpoint/2010/main" val="10559355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2D4FE-3E26-C93A-3768-9BCBF11311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F47DF3-4A08-5B31-14B1-B73C8BA2FE01}"/>
              </a:ext>
            </a:extLst>
          </p:cNvPr>
          <p:cNvSpPr>
            <a:spLocks noGrp="1"/>
          </p:cNvSpPr>
          <p:nvPr>
            <p:ph type="title"/>
          </p:nvPr>
        </p:nvSpPr>
        <p:spPr>
          <a:xfrm>
            <a:off x="104374" y="126409"/>
            <a:ext cx="5047092" cy="1743456"/>
          </a:xfrm>
        </p:spPr>
        <p:txBody>
          <a:bodyPr/>
          <a:lstStyle/>
          <a:p>
            <a:r>
              <a:rPr lang="en-US" dirty="0"/>
              <a:t>MACHINED Aluminum Block</a:t>
            </a:r>
            <a:br>
              <a:rPr lang="en-US" dirty="0"/>
            </a:br>
            <a:r>
              <a:rPr lang="en-US" dirty="0"/>
              <a:t>(Fall ‘25)</a:t>
            </a:r>
          </a:p>
        </p:txBody>
      </p:sp>
      <p:pic>
        <p:nvPicPr>
          <p:cNvPr id="5" name="Content Placeholder 4">
            <a:extLst>
              <a:ext uri="{FF2B5EF4-FFF2-40B4-BE49-F238E27FC236}">
                <a16:creationId xmlns:a16="http://schemas.microsoft.com/office/drawing/2014/main" id="{642E0478-42C3-4044-4382-66D016C2CD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88" y="1994556"/>
            <a:ext cx="3412331" cy="4549775"/>
          </a:xfrm>
          <a:prstGeom prst="rect">
            <a:avLst/>
          </a:prstGeom>
        </p:spPr>
      </p:pic>
      <p:pic>
        <p:nvPicPr>
          <p:cNvPr id="6" name="Picture 5" descr="Cleveland State University Logo Download png">
            <a:extLst>
              <a:ext uri="{FF2B5EF4-FFF2-40B4-BE49-F238E27FC236}">
                <a16:creationId xmlns:a16="http://schemas.microsoft.com/office/drawing/2014/main" id="{EA362DC7-CD35-551A-2707-1AA33A9C97B4}"/>
              </a:ext>
            </a:extLst>
          </p:cNvPr>
          <p:cNvPicPr>
            <a:picLocks noChangeAspect="1"/>
          </p:cNvPicPr>
          <p:nvPr/>
        </p:nvPicPr>
        <p:blipFill>
          <a:blip r:embed="rId3"/>
          <a:stretch>
            <a:fillRect/>
          </a:stretch>
        </p:blipFill>
        <p:spPr>
          <a:xfrm>
            <a:off x="5679575" y="126409"/>
            <a:ext cx="1868337" cy="1900004"/>
          </a:xfrm>
          <a:prstGeom prst="rect">
            <a:avLst/>
          </a:prstGeom>
        </p:spPr>
      </p:pic>
      <p:sp>
        <p:nvSpPr>
          <p:cNvPr id="7" name="TextBox 6">
            <a:extLst>
              <a:ext uri="{FF2B5EF4-FFF2-40B4-BE49-F238E27FC236}">
                <a16:creationId xmlns:a16="http://schemas.microsoft.com/office/drawing/2014/main" id="{25FF3232-B89C-21D0-5028-50DD776BE7D1}"/>
              </a:ext>
            </a:extLst>
          </p:cNvPr>
          <p:cNvSpPr txBox="1"/>
          <p:nvPr/>
        </p:nvSpPr>
        <p:spPr>
          <a:xfrm>
            <a:off x="3886200" y="2026413"/>
            <a:ext cx="3837048" cy="4708981"/>
          </a:xfrm>
          <a:prstGeom prst="rect">
            <a:avLst/>
          </a:prstGeom>
          <a:noFill/>
        </p:spPr>
        <p:txBody>
          <a:bodyPr wrap="square" rtlCol="0">
            <a:spAutoFit/>
          </a:bodyPr>
          <a:lstStyle/>
          <a:p>
            <a:r>
              <a:rPr lang="en-US" sz="2000" dirty="0"/>
              <a:t>PROJECT OVERVIEW:</a:t>
            </a:r>
          </a:p>
          <a:p>
            <a:r>
              <a:rPr lang="en-US" sz="2000" dirty="0"/>
              <a:t>We were placed into groups of 5-6 to machine an aluminum block into the desired size with the requested modifications (3 holes, 1 slot, 1 ledge)</a:t>
            </a:r>
          </a:p>
          <a:p>
            <a:endParaRPr lang="en-US" sz="2000" dirty="0"/>
          </a:p>
          <a:p>
            <a:r>
              <a:rPr lang="en-US" sz="2000" dirty="0"/>
              <a:t>CHALLENGES:</a:t>
            </a:r>
          </a:p>
          <a:p>
            <a:pPr marL="342900" indent="-342900">
              <a:buFont typeface="Arial" panose="020B0604020202020204" pitchFamily="34" charset="0"/>
              <a:buChar char="•"/>
            </a:pPr>
            <a:r>
              <a:rPr lang="en-US" sz="2000" dirty="0"/>
              <a:t>We were given a strict time constraint of around 2 months in class with only 1 class per week (about 8 classes total).</a:t>
            </a:r>
          </a:p>
          <a:p>
            <a:pPr marL="342900" indent="-342900">
              <a:buFont typeface="Arial" panose="020B0604020202020204" pitchFamily="34" charset="0"/>
              <a:buChar char="•"/>
            </a:pPr>
            <a:r>
              <a:rPr lang="en-US" sz="2000" dirty="0"/>
              <a:t>Colleague accidentally pressed block in too tightly and created a deformation from the chuck.</a:t>
            </a:r>
          </a:p>
        </p:txBody>
      </p:sp>
      <p:sp>
        <p:nvSpPr>
          <p:cNvPr id="8" name="TextBox 7">
            <a:extLst>
              <a:ext uri="{FF2B5EF4-FFF2-40B4-BE49-F238E27FC236}">
                <a16:creationId xmlns:a16="http://schemas.microsoft.com/office/drawing/2014/main" id="{A6ED88D3-FC58-9BC7-FD95-80720C376488}"/>
              </a:ext>
            </a:extLst>
          </p:cNvPr>
          <p:cNvSpPr txBox="1"/>
          <p:nvPr/>
        </p:nvSpPr>
        <p:spPr>
          <a:xfrm>
            <a:off x="130235" y="6293049"/>
            <a:ext cx="7642165" cy="3477875"/>
          </a:xfrm>
          <a:prstGeom prst="rect">
            <a:avLst/>
          </a:prstGeom>
          <a:noFill/>
        </p:spPr>
        <p:txBody>
          <a:bodyPr wrap="square" rtlCol="0">
            <a:spAutoFit/>
          </a:bodyPr>
          <a:lstStyle/>
          <a:p>
            <a:endParaRPr lang="en-US" sz="2000" dirty="0"/>
          </a:p>
          <a:p>
            <a:r>
              <a:rPr lang="en-US" sz="2000" dirty="0"/>
              <a:t>RESULTS:</a:t>
            </a:r>
          </a:p>
          <a:p>
            <a:r>
              <a:rPr lang="en-US" sz="2000" dirty="0"/>
              <a:t>We were able to get through these challenges by strategically planning out and communicating who would do what to ensure we used all of our time appropriately.  The chuck bite was able to be machined down a bit where the slot was, with the only visible deformation being a slight nick on the corner.</a:t>
            </a:r>
          </a:p>
          <a:p>
            <a:r>
              <a:rPr lang="en-US" sz="2000" dirty="0"/>
              <a:t>Post-machining, we realized our hole dimensions were not completely accurate to the drawing. Going forward, I would not only zero the coordinates at the corner of the part, but I’d also measure distances and drawing where the center of each hole would go before drilling.</a:t>
            </a:r>
          </a:p>
        </p:txBody>
      </p:sp>
    </p:spTree>
    <p:extLst>
      <p:ext uri="{BB962C8B-B14F-4D97-AF65-F5344CB8AC3E}">
        <p14:creationId xmlns:p14="http://schemas.microsoft.com/office/powerpoint/2010/main" val="34405116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Content Placeholder 8">
            <a:extLst>
              <a:ext uri="{FF2B5EF4-FFF2-40B4-BE49-F238E27FC236}">
                <a16:creationId xmlns:a16="http://schemas.microsoft.com/office/drawing/2014/main" id="{A750B2C6-6DF0-55DF-D70F-4AB8095C839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1355" y="104026"/>
            <a:ext cx="3515165" cy="4686887"/>
          </a:xfrm>
          <a:prstGeom prst="rect">
            <a:avLst/>
          </a:prstGeom>
        </p:spPr>
      </p:pic>
      <p:pic>
        <p:nvPicPr>
          <p:cNvPr id="15" name="Picture 14">
            <a:extLst>
              <a:ext uri="{FF2B5EF4-FFF2-40B4-BE49-F238E27FC236}">
                <a16:creationId xmlns:a16="http://schemas.microsoft.com/office/drawing/2014/main" id="{0136BDCC-8563-EB63-BC3C-7CF98D578A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5879" y="104026"/>
            <a:ext cx="3515166" cy="4686889"/>
          </a:xfrm>
          <a:prstGeom prst="rect">
            <a:avLst/>
          </a:prstGeom>
        </p:spPr>
      </p:pic>
      <p:pic>
        <p:nvPicPr>
          <p:cNvPr id="19" name="Picture 18">
            <a:extLst>
              <a:ext uri="{FF2B5EF4-FFF2-40B4-BE49-F238E27FC236}">
                <a16:creationId xmlns:a16="http://schemas.microsoft.com/office/drawing/2014/main" id="{200172D9-85A4-9DEE-2E7B-306DD9D35FDD}"/>
              </a:ext>
            </a:extLst>
          </p:cNvPr>
          <p:cNvPicPr>
            <a:picLocks noChangeAspect="1"/>
          </p:cNvPicPr>
          <p:nvPr/>
        </p:nvPicPr>
        <p:blipFill>
          <a:blip r:embed="rId4">
            <a:extLst>
              <a:ext uri="{28A0092B-C50C-407E-A947-70E740481C1C}">
                <a14:useLocalDpi xmlns:a14="http://schemas.microsoft.com/office/drawing/2010/main" val="0"/>
              </a:ext>
            </a:extLst>
          </a:blip>
          <a:srcRect l="8813" r="11848"/>
          <a:stretch>
            <a:fillRect/>
          </a:stretch>
        </p:blipFill>
        <p:spPr>
          <a:xfrm>
            <a:off x="2133599" y="5024710"/>
            <a:ext cx="3515165" cy="4929664"/>
          </a:xfrm>
          <a:prstGeom prst="rect">
            <a:avLst/>
          </a:prstGeom>
        </p:spPr>
      </p:pic>
    </p:spTree>
    <p:extLst>
      <p:ext uri="{BB962C8B-B14F-4D97-AF65-F5344CB8AC3E}">
        <p14:creationId xmlns:p14="http://schemas.microsoft.com/office/powerpoint/2010/main" val="39265706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15583-FA6E-BCF6-7B54-A5CC1B2F6A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4CCD62-DCDD-E19C-9D8B-BB8F2538AA99}"/>
              </a:ext>
            </a:extLst>
          </p:cNvPr>
          <p:cNvSpPr>
            <a:spLocks noGrp="1"/>
          </p:cNvSpPr>
          <p:nvPr>
            <p:ph type="title"/>
          </p:nvPr>
        </p:nvSpPr>
        <p:spPr>
          <a:xfrm>
            <a:off x="104374" y="126409"/>
            <a:ext cx="5047092" cy="1743456"/>
          </a:xfrm>
        </p:spPr>
        <p:txBody>
          <a:bodyPr/>
          <a:lstStyle/>
          <a:p>
            <a:r>
              <a:rPr lang="en-US" dirty="0"/>
              <a:t>Vise Grip</a:t>
            </a:r>
            <a:br>
              <a:rPr lang="en-US" dirty="0"/>
            </a:br>
            <a:r>
              <a:rPr lang="en-US" dirty="0"/>
              <a:t>(Fall ‘25)</a:t>
            </a:r>
          </a:p>
        </p:txBody>
      </p:sp>
      <p:pic>
        <p:nvPicPr>
          <p:cNvPr id="5" name="Picture 4">
            <a:extLst>
              <a:ext uri="{FF2B5EF4-FFF2-40B4-BE49-F238E27FC236}">
                <a16:creationId xmlns:a16="http://schemas.microsoft.com/office/drawing/2014/main" id="{252F34C3-AC97-3688-0D65-4A2623102C8C}"/>
              </a:ext>
            </a:extLst>
          </p:cNvPr>
          <p:cNvPicPr>
            <a:picLocks noChangeAspect="1"/>
          </p:cNvPicPr>
          <p:nvPr/>
        </p:nvPicPr>
        <p:blipFill>
          <a:blip r:embed="rId2">
            <a:extLst>
              <a:ext uri="{28A0092B-C50C-407E-A947-70E740481C1C}">
                <a14:useLocalDpi xmlns:a14="http://schemas.microsoft.com/office/drawing/2010/main" val="0"/>
              </a:ext>
            </a:extLst>
          </a:blip>
          <a:srcRect t="29239" b="15152"/>
          <a:stretch>
            <a:fillRect/>
          </a:stretch>
        </p:blipFill>
        <p:spPr>
          <a:xfrm>
            <a:off x="155909" y="2216726"/>
            <a:ext cx="3645020" cy="2812474"/>
          </a:xfrm>
          <a:prstGeom prst="rect">
            <a:avLst/>
          </a:prstGeom>
        </p:spPr>
      </p:pic>
      <p:pic>
        <p:nvPicPr>
          <p:cNvPr id="7" name="Picture 6">
            <a:extLst>
              <a:ext uri="{FF2B5EF4-FFF2-40B4-BE49-F238E27FC236}">
                <a16:creationId xmlns:a16="http://schemas.microsoft.com/office/drawing/2014/main" id="{7A30FDFB-3D23-A041-06F9-B4141EF7A8DC}"/>
              </a:ext>
            </a:extLst>
          </p:cNvPr>
          <p:cNvPicPr>
            <a:picLocks noChangeAspect="1"/>
          </p:cNvPicPr>
          <p:nvPr/>
        </p:nvPicPr>
        <p:blipFill>
          <a:blip r:embed="rId3">
            <a:extLst>
              <a:ext uri="{28A0092B-C50C-407E-A947-70E740481C1C}">
                <a14:useLocalDpi xmlns:a14="http://schemas.microsoft.com/office/drawing/2010/main" val="0"/>
              </a:ext>
            </a:extLst>
          </a:blip>
          <a:srcRect t="16422"/>
          <a:stretch>
            <a:fillRect/>
          </a:stretch>
        </p:blipFill>
        <p:spPr>
          <a:xfrm>
            <a:off x="3800929" y="6925796"/>
            <a:ext cx="3757291" cy="2991106"/>
          </a:xfrm>
          <a:prstGeom prst="rect">
            <a:avLst/>
          </a:prstGeom>
        </p:spPr>
      </p:pic>
      <p:pic>
        <p:nvPicPr>
          <p:cNvPr id="9" name="Picture 8" descr="Cleveland State University Logo Download png">
            <a:extLst>
              <a:ext uri="{FF2B5EF4-FFF2-40B4-BE49-F238E27FC236}">
                <a16:creationId xmlns:a16="http://schemas.microsoft.com/office/drawing/2014/main" id="{4C9D09FC-A029-97E2-79C2-ABC543032777}"/>
              </a:ext>
            </a:extLst>
          </p:cNvPr>
          <p:cNvPicPr>
            <a:picLocks noChangeAspect="1"/>
          </p:cNvPicPr>
          <p:nvPr/>
        </p:nvPicPr>
        <p:blipFill>
          <a:blip r:embed="rId4"/>
          <a:stretch>
            <a:fillRect/>
          </a:stretch>
        </p:blipFill>
        <p:spPr>
          <a:xfrm>
            <a:off x="5679575" y="126409"/>
            <a:ext cx="1868337" cy="1900004"/>
          </a:xfrm>
          <a:prstGeom prst="rect">
            <a:avLst/>
          </a:prstGeom>
        </p:spPr>
      </p:pic>
      <p:sp>
        <p:nvSpPr>
          <p:cNvPr id="11" name="TextBox 10">
            <a:extLst>
              <a:ext uri="{FF2B5EF4-FFF2-40B4-BE49-F238E27FC236}">
                <a16:creationId xmlns:a16="http://schemas.microsoft.com/office/drawing/2014/main" id="{ED4CD7C9-DE4C-F626-928C-B1DB8FA2B8C1}"/>
              </a:ext>
            </a:extLst>
          </p:cNvPr>
          <p:cNvSpPr txBox="1"/>
          <p:nvPr/>
        </p:nvSpPr>
        <p:spPr>
          <a:xfrm>
            <a:off x="3886200" y="2368043"/>
            <a:ext cx="3757290" cy="4401205"/>
          </a:xfrm>
          <a:prstGeom prst="rect">
            <a:avLst/>
          </a:prstGeom>
          <a:noFill/>
        </p:spPr>
        <p:txBody>
          <a:bodyPr wrap="square" rtlCol="0">
            <a:spAutoFit/>
          </a:bodyPr>
          <a:lstStyle/>
          <a:p>
            <a:r>
              <a:rPr lang="en-US" sz="2000" dirty="0"/>
              <a:t>PROJECT OVERVIEW:</a:t>
            </a:r>
          </a:p>
          <a:p>
            <a:r>
              <a:rPr lang="en-US" sz="2000" dirty="0"/>
              <a:t>We were placed into teams of 3 and tasked with designing and 3D printing a functional vise to hold a pencil.</a:t>
            </a:r>
          </a:p>
          <a:p>
            <a:endParaRPr lang="en-US" sz="2000" dirty="0"/>
          </a:p>
          <a:p>
            <a:r>
              <a:rPr lang="en-US" sz="2000" dirty="0"/>
              <a:t>CHALLENGES:</a:t>
            </a:r>
          </a:p>
          <a:p>
            <a:pPr marL="342900" indent="-342900">
              <a:buFont typeface="Arial" panose="020B0604020202020204" pitchFamily="34" charset="0"/>
              <a:buChar char="•"/>
            </a:pPr>
            <a:r>
              <a:rPr lang="en-US" sz="2000" dirty="0"/>
              <a:t>We were given no other instruction or outline other than to create the vise and an animation.</a:t>
            </a:r>
          </a:p>
          <a:p>
            <a:pPr marL="342900" indent="-342900">
              <a:buFont typeface="Arial" panose="020B0604020202020204" pitchFamily="34" charset="0"/>
              <a:buChar char="•"/>
            </a:pPr>
            <a:r>
              <a:rPr lang="en-US" sz="2000" dirty="0"/>
              <a:t>Time constraint.</a:t>
            </a:r>
          </a:p>
          <a:p>
            <a:pPr marL="342900" indent="-342900">
              <a:buFont typeface="Arial" panose="020B0604020202020204" pitchFamily="34" charset="0"/>
              <a:buChar char="•"/>
            </a:pPr>
            <a:r>
              <a:rPr lang="en-US" sz="2000" dirty="0"/>
              <a:t>Pencil could still rotate within the vice.</a:t>
            </a:r>
          </a:p>
        </p:txBody>
      </p:sp>
      <p:sp>
        <p:nvSpPr>
          <p:cNvPr id="13" name="TextBox 12">
            <a:extLst>
              <a:ext uri="{FF2B5EF4-FFF2-40B4-BE49-F238E27FC236}">
                <a16:creationId xmlns:a16="http://schemas.microsoft.com/office/drawing/2014/main" id="{260655F1-CF59-6969-A238-556F42550C20}"/>
              </a:ext>
            </a:extLst>
          </p:cNvPr>
          <p:cNvSpPr txBox="1"/>
          <p:nvPr/>
        </p:nvSpPr>
        <p:spPr>
          <a:xfrm>
            <a:off x="35319" y="5207921"/>
            <a:ext cx="3645020" cy="4539704"/>
          </a:xfrm>
          <a:prstGeom prst="rect">
            <a:avLst/>
          </a:prstGeom>
          <a:noFill/>
        </p:spPr>
        <p:txBody>
          <a:bodyPr wrap="square">
            <a:spAutoFit/>
          </a:bodyPr>
          <a:lstStyle/>
          <a:p>
            <a:r>
              <a:rPr lang="en-US" sz="1700" dirty="0"/>
              <a:t>RESULTS:</a:t>
            </a:r>
          </a:p>
          <a:p>
            <a:r>
              <a:rPr lang="en-US" sz="1700" dirty="0"/>
              <a:t>We were able to successfully complete and print a working vise by dividing the work up into manageable chunks.</a:t>
            </a:r>
          </a:p>
          <a:p>
            <a:r>
              <a:rPr lang="en-US" sz="1700" dirty="0"/>
              <a:t>One of my teammates had his own 3D printer which was very beneficial for this project as we were able to print multiple times and stop progress early if we noticed it failing.</a:t>
            </a:r>
          </a:p>
          <a:p>
            <a:r>
              <a:rPr lang="en-US" sz="1700" dirty="0"/>
              <a:t>We noticed that the pencil was able to rotate in the vise when moderate torque was applied. Going forward, I would personally fix the flat jaw geometry problem by using something like a 90 degree V-groove so there’d be more contact regions or adding a thin rubber pad inside to increase friction.</a:t>
            </a:r>
          </a:p>
        </p:txBody>
      </p:sp>
    </p:spTree>
    <p:extLst>
      <p:ext uri="{BB962C8B-B14F-4D97-AF65-F5344CB8AC3E}">
        <p14:creationId xmlns:p14="http://schemas.microsoft.com/office/powerpoint/2010/main" val="80729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0881C-BF24-A002-6E04-1C2E48659C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1ED470-566B-F460-EA2F-CEE25030F191}"/>
              </a:ext>
            </a:extLst>
          </p:cNvPr>
          <p:cNvSpPr>
            <a:spLocks noGrp="1"/>
          </p:cNvSpPr>
          <p:nvPr>
            <p:ph type="title"/>
          </p:nvPr>
        </p:nvSpPr>
        <p:spPr>
          <a:xfrm>
            <a:off x="104374" y="126409"/>
            <a:ext cx="5047092" cy="1743456"/>
          </a:xfrm>
        </p:spPr>
        <p:txBody>
          <a:bodyPr/>
          <a:lstStyle/>
          <a:p>
            <a:r>
              <a:rPr lang="en-US" dirty="0"/>
              <a:t>Magnetic Rechargeable Flashlight</a:t>
            </a:r>
            <a:br>
              <a:rPr lang="en-US" dirty="0"/>
            </a:br>
            <a:r>
              <a:rPr lang="en-US" dirty="0"/>
              <a:t>(Fall ’24)</a:t>
            </a:r>
          </a:p>
        </p:txBody>
      </p:sp>
      <p:pic>
        <p:nvPicPr>
          <p:cNvPr id="9" name="Picture 8" descr="Cleveland State University Logo Download png">
            <a:extLst>
              <a:ext uri="{FF2B5EF4-FFF2-40B4-BE49-F238E27FC236}">
                <a16:creationId xmlns:a16="http://schemas.microsoft.com/office/drawing/2014/main" id="{30B5EB6D-D143-4662-BA98-4CDF9C979999}"/>
              </a:ext>
            </a:extLst>
          </p:cNvPr>
          <p:cNvPicPr>
            <a:picLocks noChangeAspect="1"/>
          </p:cNvPicPr>
          <p:nvPr/>
        </p:nvPicPr>
        <p:blipFill>
          <a:blip r:embed="rId2"/>
          <a:stretch>
            <a:fillRect/>
          </a:stretch>
        </p:blipFill>
        <p:spPr>
          <a:xfrm>
            <a:off x="5679575" y="126409"/>
            <a:ext cx="1868337" cy="1900004"/>
          </a:xfrm>
          <a:prstGeom prst="rect">
            <a:avLst/>
          </a:prstGeom>
        </p:spPr>
      </p:pic>
      <p:sp>
        <p:nvSpPr>
          <p:cNvPr id="11" name="TextBox 10">
            <a:extLst>
              <a:ext uri="{FF2B5EF4-FFF2-40B4-BE49-F238E27FC236}">
                <a16:creationId xmlns:a16="http://schemas.microsoft.com/office/drawing/2014/main" id="{00E95C57-017A-BA96-E60E-35474E9F18EB}"/>
              </a:ext>
            </a:extLst>
          </p:cNvPr>
          <p:cNvSpPr txBox="1"/>
          <p:nvPr/>
        </p:nvSpPr>
        <p:spPr>
          <a:xfrm>
            <a:off x="182880" y="6212730"/>
            <a:ext cx="3703320" cy="3785652"/>
          </a:xfrm>
          <a:prstGeom prst="rect">
            <a:avLst/>
          </a:prstGeom>
          <a:noFill/>
        </p:spPr>
        <p:txBody>
          <a:bodyPr wrap="square">
            <a:spAutoFit/>
          </a:bodyPr>
          <a:lstStyle/>
          <a:p>
            <a:r>
              <a:rPr lang="en-US" sz="1600" dirty="0"/>
              <a:t>RESULTS:</a:t>
            </a:r>
          </a:p>
          <a:p>
            <a:r>
              <a:rPr lang="en-US" sz="1600" dirty="0"/>
              <a:t>Using </a:t>
            </a:r>
            <a:r>
              <a:rPr lang="en-US" sz="1600" dirty="0" err="1"/>
              <a:t>TinkerCAD</a:t>
            </a:r>
            <a:r>
              <a:rPr lang="en-US" sz="1600" dirty="0"/>
              <a:t>, we were able to successfully dimension each component of the flashlight and design a case to hold everything that fit perfectly. The holes for the magnets kept being filled with material runoff, but we were able to clean them out for our final design. Additionally, we had a group member who rarely showed up to class, which put us down a member and putting more work on everyone else. I was able to successfully reach out to the person to find a solution, which led us to be able to create a schedule and get things back on track.</a:t>
            </a:r>
          </a:p>
        </p:txBody>
      </p:sp>
      <p:sp>
        <p:nvSpPr>
          <p:cNvPr id="13" name="TextBox 12">
            <a:extLst>
              <a:ext uri="{FF2B5EF4-FFF2-40B4-BE49-F238E27FC236}">
                <a16:creationId xmlns:a16="http://schemas.microsoft.com/office/drawing/2014/main" id="{658387FF-1643-1D72-6D2C-8029335B0B43}"/>
              </a:ext>
            </a:extLst>
          </p:cNvPr>
          <p:cNvSpPr txBox="1"/>
          <p:nvPr/>
        </p:nvSpPr>
        <p:spPr>
          <a:xfrm>
            <a:off x="4033522" y="2090193"/>
            <a:ext cx="3703320" cy="4708981"/>
          </a:xfrm>
          <a:prstGeom prst="rect">
            <a:avLst/>
          </a:prstGeom>
          <a:noFill/>
        </p:spPr>
        <p:txBody>
          <a:bodyPr wrap="square">
            <a:spAutoFit/>
          </a:bodyPr>
          <a:lstStyle/>
          <a:p>
            <a:r>
              <a:rPr lang="en-US" sz="2000" dirty="0"/>
              <a:t>PROJECT OVERVIEW:</a:t>
            </a:r>
          </a:p>
          <a:p>
            <a:r>
              <a:rPr lang="en-US" sz="2000" dirty="0"/>
              <a:t>Our goal was to come up with, design, and manufacture a product to present to our class. Our group decided to create a rechargeable, portable flashlight that was magnetic. I was assigned the role of “Group Leader”.</a:t>
            </a:r>
          </a:p>
          <a:p>
            <a:endParaRPr lang="en-US" sz="2000" dirty="0"/>
          </a:p>
          <a:p>
            <a:r>
              <a:rPr lang="en-US" sz="2000" dirty="0"/>
              <a:t>CHALLENGES:</a:t>
            </a:r>
          </a:p>
          <a:p>
            <a:pPr marL="342900" indent="-342900">
              <a:buFont typeface="Arial" panose="020B0604020202020204" pitchFamily="34" charset="0"/>
              <a:buChar char="•"/>
            </a:pPr>
            <a:r>
              <a:rPr lang="en-US" sz="2000" dirty="0"/>
              <a:t>Fitting all of the components in a hand-held device</a:t>
            </a:r>
          </a:p>
          <a:p>
            <a:pPr marL="342900" indent="-342900">
              <a:buFont typeface="Arial" panose="020B0604020202020204" pitchFamily="34" charset="0"/>
              <a:buChar char="•"/>
            </a:pPr>
            <a:r>
              <a:rPr lang="en-US" sz="2000" dirty="0"/>
              <a:t>Manufacturing the holes of the magnets</a:t>
            </a:r>
          </a:p>
          <a:p>
            <a:pPr marL="342900" indent="-342900">
              <a:buFont typeface="Arial" panose="020B0604020202020204" pitchFamily="34" charset="0"/>
              <a:buChar char="•"/>
            </a:pPr>
            <a:r>
              <a:rPr lang="en-US" sz="2000" dirty="0"/>
              <a:t>Uncooperative group member</a:t>
            </a:r>
          </a:p>
        </p:txBody>
      </p:sp>
      <p:pic>
        <p:nvPicPr>
          <p:cNvPr id="8" name="Picture 7">
            <a:extLst>
              <a:ext uri="{FF2B5EF4-FFF2-40B4-BE49-F238E27FC236}">
                <a16:creationId xmlns:a16="http://schemas.microsoft.com/office/drawing/2014/main" id="{376930F9-6085-E213-52A7-00948D79B782}"/>
              </a:ext>
            </a:extLst>
          </p:cNvPr>
          <p:cNvPicPr>
            <a:picLocks noChangeAspect="1"/>
          </p:cNvPicPr>
          <p:nvPr/>
        </p:nvPicPr>
        <p:blipFill>
          <a:blip r:embed="rId3"/>
          <a:stretch>
            <a:fillRect/>
          </a:stretch>
        </p:blipFill>
        <p:spPr>
          <a:xfrm>
            <a:off x="35557" y="1952844"/>
            <a:ext cx="3997966" cy="2294993"/>
          </a:xfrm>
          <a:prstGeom prst="rect">
            <a:avLst/>
          </a:prstGeom>
        </p:spPr>
      </p:pic>
      <p:pic>
        <p:nvPicPr>
          <p:cNvPr id="12" name="Picture 11">
            <a:extLst>
              <a:ext uri="{FF2B5EF4-FFF2-40B4-BE49-F238E27FC236}">
                <a16:creationId xmlns:a16="http://schemas.microsoft.com/office/drawing/2014/main" id="{38C1375C-E61D-CA95-0A97-4EC185D49492}"/>
              </a:ext>
            </a:extLst>
          </p:cNvPr>
          <p:cNvPicPr>
            <a:picLocks noChangeAspect="1"/>
          </p:cNvPicPr>
          <p:nvPr/>
        </p:nvPicPr>
        <p:blipFill>
          <a:blip r:embed="rId4">
            <a:extLst>
              <a:ext uri="{28A0092B-C50C-407E-A947-70E740481C1C}">
                <a14:useLocalDpi xmlns:a14="http://schemas.microsoft.com/office/drawing/2010/main" val="0"/>
              </a:ext>
            </a:extLst>
          </a:blip>
          <a:srcRect l="11226" t="18085" r="18868" b="19571"/>
          <a:stretch>
            <a:fillRect/>
          </a:stretch>
        </p:blipFill>
        <p:spPr>
          <a:xfrm>
            <a:off x="4569757" y="6799174"/>
            <a:ext cx="2630850" cy="3128354"/>
          </a:xfrm>
          <a:prstGeom prst="rect">
            <a:avLst/>
          </a:prstGeom>
        </p:spPr>
      </p:pic>
      <p:pic>
        <p:nvPicPr>
          <p:cNvPr id="17" name="Picture 16">
            <a:extLst>
              <a:ext uri="{FF2B5EF4-FFF2-40B4-BE49-F238E27FC236}">
                <a16:creationId xmlns:a16="http://schemas.microsoft.com/office/drawing/2014/main" id="{68EA85F1-4CD2-74C3-B5FB-9BBD115A2E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95456" y="4247837"/>
            <a:ext cx="1518683" cy="2024911"/>
          </a:xfrm>
          <a:prstGeom prst="rect">
            <a:avLst/>
          </a:prstGeom>
        </p:spPr>
      </p:pic>
    </p:spTree>
    <p:extLst>
      <p:ext uri="{BB962C8B-B14F-4D97-AF65-F5344CB8AC3E}">
        <p14:creationId xmlns:p14="http://schemas.microsoft.com/office/powerpoint/2010/main" val="595516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14417-75F2-3689-2A53-0EA7D937C7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1A475B-1673-89C8-63C4-B5190556B6F5}"/>
              </a:ext>
            </a:extLst>
          </p:cNvPr>
          <p:cNvSpPr>
            <a:spLocks noGrp="1"/>
          </p:cNvSpPr>
          <p:nvPr>
            <p:ph type="title"/>
          </p:nvPr>
        </p:nvSpPr>
        <p:spPr>
          <a:xfrm>
            <a:off x="104374" y="126409"/>
            <a:ext cx="5047092" cy="1743456"/>
          </a:xfrm>
        </p:spPr>
        <p:txBody>
          <a:bodyPr/>
          <a:lstStyle/>
          <a:p>
            <a:r>
              <a:rPr lang="en-US" dirty="0"/>
              <a:t>Scissor Lift</a:t>
            </a:r>
            <a:br>
              <a:rPr lang="en-US" dirty="0"/>
            </a:br>
            <a:r>
              <a:rPr lang="en-US" dirty="0"/>
              <a:t>(Summer ‘26)</a:t>
            </a:r>
          </a:p>
        </p:txBody>
      </p:sp>
      <p:pic>
        <p:nvPicPr>
          <p:cNvPr id="9" name="Picture 8" descr="Cleveland State University Logo Download png">
            <a:extLst>
              <a:ext uri="{FF2B5EF4-FFF2-40B4-BE49-F238E27FC236}">
                <a16:creationId xmlns:a16="http://schemas.microsoft.com/office/drawing/2014/main" id="{BC4F1528-6B3A-0805-577B-96376B3E689E}"/>
              </a:ext>
            </a:extLst>
          </p:cNvPr>
          <p:cNvPicPr>
            <a:picLocks noChangeAspect="1"/>
          </p:cNvPicPr>
          <p:nvPr/>
        </p:nvPicPr>
        <p:blipFill>
          <a:blip r:embed="rId2"/>
          <a:stretch>
            <a:fillRect/>
          </a:stretch>
        </p:blipFill>
        <p:spPr>
          <a:xfrm>
            <a:off x="5679575" y="126409"/>
            <a:ext cx="1868337" cy="1900004"/>
          </a:xfrm>
          <a:prstGeom prst="rect">
            <a:avLst/>
          </a:prstGeom>
        </p:spPr>
      </p:pic>
      <p:sp>
        <p:nvSpPr>
          <p:cNvPr id="11" name="TextBox 10">
            <a:extLst>
              <a:ext uri="{FF2B5EF4-FFF2-40B4-BE49-F238E27FC236}">
                <a16:creationId xmlns:a16="http://schemas.microsoft.com/office/drawing/2014/main" id="{C86DF5A7-FE0E-08EF-669B-902E8B7DCE4D}"/>
              </a:ext>
            </a:extLst>
          </p:cNvPr>
          <p:cNvSpPr txBox="1"/>
          <p:nvPr/>
        </p:nvSpPr>
        <p:spPr>
          <a:xfrm>
            <a:off x="195059" y="5193507"/>
            <a:ext cx="3147841" cy="4524315"/>
          </a:xfrm>
          <a:prstGeom prst="rect">
            <a:avLst/>
          </a:prstGeom>
          <a:noFill/>
        </p:spPr>
        <p:txBody>
          <a:bodyPr wrap="square">
            <a:spAutoFit/>
          </a:bodyPr>
          <a:lstStyle/>
          <a:p>
            <a:r>
              <a:rPr lang="en-US" dirty="0"/>
              <a:t>RESULTS:</a:t>
            </a:r>
          </a:p>
          <a:p>
            <a:r>
              <a:rPr lang="en-US" dirty="0"/>
              <a:t>I used SOLIDWORKS to make this simple design. Using only two links per side, the lift can now support vertical extension while maintaining a parallel plate alignment. As for the clearance of the scissor arms, I found that they pass very close to each other while being used. I went through a few different linkage designs to prevent interference between the arms, pins, and sheet metal flanges throughout its full range of motion.</a:t>
            </a:r>
          </a:p>
        </p:txBody>
      </p:sp>
      <p:sp>
        <p:nvSpPr>
          <p:cNvPr id="13" name="TextBox 12">
            <a:extLst>
              <a:ext uri="{FF2B5EF4-FFF2-40B4-BE49-F238E27FC236}">
                <a16:creationId xmlns:a16="http://schemas.microsoft.com/office/drawing/2014/main" id="{2B0E3DB1-397A-36D2-DA5E-FF8B5F258D9B}"/>
              </a:ext>
            </a:extLst>
          </p:cNvPr>
          <p:cNvSpPr txBox="1"/>
          <p:nvPr/>
        </p:nvSpPr>
        <p:spPr>
          <a:xfrm>
            <a:off x="4346878" y="2317124"/>
            <a:ext cx="3356634" cy="5078313"/>
          </a:xfrm>
          <a:prstGeom prst="rect">
            <a:avLst/>
          </a:prstGeom>
          <a:noFill/>
        </p:spPr>
        <p:txBody>
          <a:bodyPr wrap="square">
            <a:spAutoFit/>
          </a:bodyPr>
          <a:lstStyle/>
          <a:p>
            <a:r>
              <a:rPr lang="en-US" dirty="0"/>
              <a:t>PROJECT OVERVIEW:</a:t>
            </a:r>
          </a:p>
          <a:p>
            <a:r>
              <a:rPr lang="en-US" dirty="0"/>
              <a:t>My goal was to design and model a compact scissor lift platform with the goal of exploring mechanical design with the limits of constrained motion. The project focused on creating a stable lifting mechanism using a pair of crossed links and guide slots to achieve smooth vertical motion while maintaining platform alignment.</a:t>
            </a:r>
          </a:p>
          <a:p>
            <a:endParaRPr lang="en-US" dirty="0"/>
          </a:p>
          <a:p>
            <a:r>
              <a:rPr lang="en-US" dirty="0"/>
              <a:t>CHALLENGES:</a:t>
            </a:r>
          </a:p>
          <a:p>
            <a:pPr marL="342900" indent="-342900">
              <a:buFont typeface="Arial" panose="020B0604020202020204" pitchFamily="34" charset="0"/>
              <a:buChar char="•"/>
            </a:pPr>
            <a:r>
              <a:rPr lang="en-US" dirty="0"/>
              <a:t>Motion constraints while maintaining stability.</a:t>
            </a:r>
          </a:p>
          <a:p>
            <a:pPr marL="342900" indent="-342900">
              <a:buFont typeface="Arial" panose="020B0604020202020204" pitchFamily="34" charset="0"/>
              <a:buChar char="•"/>
            </a:pPr>
            <a:r>
              <a:rPr lang="en-US" dirty="0"/>
              <a:t>Clearance between part components</a:t>
            </a:r>
          </a:p>
        </p:txBody>
      </p:sp>
      <p:sp>
        <p:nvSpPr>
          <p:cNvPr id="15" name="TextBox 14">
            <a:extLst>
              <a:ext uri="{FF2B5EF4-FFF2-40B4-BE49-F238E27FC236}">
                <a16:creationId xmlns:a16="http://schemas.microsoft.com/office/drawing/2014/main" id="{24587000-1BE6-2751-FB54-D51A65A2C435}"/>
              </a:ext>
            </a:extLst>
          </p:cNvPr>
          <p:cNvSpPr txBox="1"/>
          <p:nvPr/>
        </p:nvSpPr>
        <p:spPr>
          <a:xfrm>
            <a:off x="3355329" y="7724050"/>
            <a:ext cx="4417071" cy="2185214"/>
          </a:xfrm>
          <a:prstGeom prst="rect">
            <a:avLst/>
          </a:prstGeom>
          <a:noFill/>
        </p:spPr>
        <p:txBody>
          <a:bodyPr wrap="square">
            <a:spAutoFit/>
          </a:bodyPr>
          <a:lstStyle/>
          <a:p>
            <a:r>
              <a:rPr lang="en-US" sz="1700" dirty="0"/>
              <a:t>If I were to further the development of the sign, I would consider alternative cross-section designs or material removal to optimize weight. Possibly bearings or bushings to reduce friction at pivot points. I would also consider some sort of locking feature for improved safety while in us. I could also add a hydraulic/motor lift system as well to optimize it.</a:t>
            </a:r>
          </a:p>
        </p:txBody>
      </p:sp>
      <p:pic>
        <p:nvPicPr>
          <p:cNvPr id="18" name="Picture 17">
            <a:extLst>
              <a:ext uri="{FF2B5EF4-FFF2-40B4-BE49-F238E27FC236}">
                <a16:creationId xmlns:a16="http://schemas.microsoft.com/office/drawing/2014/main" id="{B311CAD2-C58D-9106-E4C5-B485023370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00" y="2079605"/>
            <a:ext cx="4302938" cy="2949595"/>
          </a:xfrm>
          <a:prstGeom prst="rect">
            <a:avLst/>
          </a:prstGeom>
        </p:spPr>
      </p:pic>
    </p:spTree>
    <p:extLst>
      <p:ext uri="{BB962C8B-B14F-4D97-AF65-F5344CB8AC3E}">
        <p14:creationId xmlns:p14="http://schemas.microsoft.com/office/powerpoint/2010/main" val="36321534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5A68FD-62B0-22A2-6805-4D661428719C}"/>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C9D4BAA-E0C6-88D3-D367-E679420616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7426" y="283512"/>
            <a:ext cx="6137547" cy="4533415"/>
          </a:xfrm>
          <a:prstGeom prst="rect">
            <a:avLst/>
          </a:prstGeom>
        </p:spPr>
      </p:pic>
      <p:pic>
        <p:nvPicPr>
          <p:cNvPr id="10" name="Picture 9">
            <a:extLst>
              <a:ext uri="{FF2B5EF4-FFF2-40B4-BE49-F238E27FC236}">
                <a16:creationId xmlns:a16="http://schemas.microsoft.com/office/drawing/2014/main" id="{9E63FC68-5A45-F55C-ED86-28DA0790EC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7426" y="5407595"/>
            <a:ext cx="6335486" cy="4367293"/>
          </a:xfrm>
          <a:prstGeom prst="rect">
            <a:avLst/>
          </a:prstGeom>
        </p:spPr>
      </p:pic>
    </p:spTree>
    <p:extLst>
      <p:ext uri="{BB962C8B-B14F-4D97-AF65-F5344CB8AC3E}">
        <p14:creationId xmlns:p14="http://schemas.microsoft.com/office/powerpoint/2010/main" val="2093449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6221A-BFE1-145E-7B48-1C99169F7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A3DE6D-2A03-2798-CAEF-C2B8D1432F1D}"/>
              </a:ext>
            </a:extLst>
          </p:cNvPr>
          <p:cNvSpPr>
            <a:spLocks noGrp="1"/>
          </p:cNvSpPr>
          <p:nvPr>
            <p:ph type="title"/>
          </p:nvPr>
        </p:nvSpPr>
        <p:spPr>
          <a:xfrm>
            <a:off x="104374" y="126409"/>
            <a:ext cx="5047092" cy="1743456"/>
          </a:xfrm>
        </p:spPr>
        <p:txBody>
          <a:bodyPr/>
          <a:lstStyle/>
          <a:p>
            <a:r>
              <a:rPr lang="en-US" dirty="0"/>
              <a:t>Assembly</a:t>
            </a:r>
            <a:br>
              <a:rPr lang="en-US" dirty="0"/>
            </a:br>
            <a:r>
              <a:rPr lang="en-US" dirty="0"/>
              <a:t>+</a:t>
            </a:r>
            <a:br>
              <a:rPr lang="en-US" dirty="0"/>
            </a:br>
            <a:r>
              <a:rPr lang="en-US" dirty="0"/>
              <a:t>Welding Special Parts</a:t>
            </a:r>
            <a:br>
              <a:rPr lang="en-US" dirty="0"/>
            </a:br>
            <a:r>
              <a:rPr lang="en-US" dirty="0"/>
              <a:t>(Spring ‘25)</a:t>
            </a:r>
          </a:p>
        </p:txBody>
      </p:sp>
      <p:pic>
        <p:nvPicPr>
          <p:cNvPr id="19" name="Picture 18">
            <a:extLst>
              <a:ext uri="{FF2B5EF4-FFF2-40B4-BE49-F238E27FC236}">
                <a16:creationId xmlns:a16="http://schemas.microsoft.com/office/drawing/2014/main" id="{46E016EA-8E9E-E020-DA2B-DB4CDCA0DF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100" y="2162544"/>
            <a:ext cx="3004880" cy="3808165"/>
          </a:xfrm>
          <a:prstGeom prst="rect">
            <a:avLst/>
          </a:prstGeom>
        </p:spPr>
      </p:pic>
      <p:pic>
        <p:nvPicPr>
          <p:cNvPr id="21" name="Picture 20" descr="Cleveland State University Logo Download png">
            <a:extLst>
              <a:ext uri="{FF2B5EF4-FFF2-40B4-BE49-F238E27FC236}">
                <a16:creationId xmlns:a16="http://schemas.microsoft.com/office/drawing/2014/main" id="{27FD9A58-D363-60EC-54EC-3A2B00DFF8F6}"/>
              </a:ext>
            </a:extLst>
          </p:cNvPr>
          <p:cNvPicPr>
            <a:picLocks noChangeAspect="1"/>
          </p:cNvPicPr>
          <p:nvPr/>
        </p:nvPicPr>
        <p:blipFill>
          <a:blip r:embed="rId3"/>
          <a:stretch>
            <a:fillRect/>
          </a:stretch>
        </p:blipFill>
        <p:spPr>
          <a:xfrm>
            <a:off x="5679575" y="126409"/>
            <a:ext cx="1868337" cy="1900004"/>
          </a:xfrm>
          <a:prstGeom prst="rect">
            <a:avLst/>
          </a:prstGeom>
        </p:spPr>
      </p:pic>
      <p:sp>
        <p:nvSpPr>
          <p:cNvPr id="27" name="TextBox 26">
            <a:extLst>
              <a:ext uri="{FF2B5EF4-FFF2-40B4-BE49-F238E27FC236}">
                <a16:creationId xmlns:a16="http://schemas.microsoft.com/office/drawing/2014/main" id="{98A24133-3D12-AA9E-085B-E1BE9D6D5C53}"/>
              </a:ext>
            </a:extLst>
          </p:cNvPr>
          <p:cNvSpPr txBox="1"/>
          <p:nvPr/>
        </p:nvSpPr>
        <p:spPr>
          <a:xfrm>
            <a:off x="3656010" y="2383670"/>
            <a:ext cx="3757290" cy="4401205"/>
          </a:xfrm>
          <a:prstGeom prst="rect">
            <a:avLst/>
          </a:prstGeom>
          <a:noFill/>
        </p:spPr>
        <p:txBody>
          <a:bodyPr wrap="square" rtlCol="0">
            <a:spAutoFit/>
          </a:bodyPr>
          <a:lstStyle/>
          <a:p>
            <a:r>
              <a:rPr lang="en-US" sz="2000" dirty="0"/>
              <a:t>PROJECT OVERVIEW:</a:t>
            </a:r>
          </a:p>
          <a:p>
            <a:r>
              <a:rPr lang="en-US" sz="2000" dirty="0"/>
              <a:t>We were asked to all individually study a dimensioned assembly and perfectly recreate it as one of our assignments.</a:t>
            </a:r>
          </a:p>
          <a:p>
            <a:endParaRPr lang="en-US" sz="2000" dirty="0"/>
          </a:p>
          <a:p>
            <a:r>
              <a:rPr lang="en-US" sz="2000" dirty="0"/>
              <a:t>CHALLENGES:</a:t>
            </a:r>
          </a:p>
          <a:p>
            <a:pPr marL="342900" indent="-342900">
              <a:buFont typeface="Arial" panose="020B0604020202020204" pitchFamily="34" charset="0"/>
              <a:buChar char="•"/>
            </a:pPr>
            <a:r>
              <a:rPr lang="en-US" sz="2000" dirty="0"/>
              <a:t>Having no groupmates would be challenging as I’d have no one to share work with.</a:t>
            </a:r>
          </a:p>
          <a:p>
            <a:pPr marL="342900" indent="-342900">
              <a:buFont typeface="Arial" panose="020B0604020202020204" pitchFamily="34" charset="0"/>
              <a:buChar char="•"/>
            </a:pPr>
            <a:r>
              <a:rPr lang="en-US" sz="2000" dirty="0"/>
              <a:t>Assembly included welded parts, which required additional work to show.</a:t>
            </a:r>
          </a:p>
          <a:p>
            <a:endParaRPr lang="en-US" sz="2000" dirty="0"/>
          </a:p>
        </p:txBody>
      </p:sp>
      <p:sp>
        <p:nvSpPr>
          <p:cNvPr id="29" name="TextBox 28">
            <a:extLst>
              <a:ext uri="{FF2B5EF4-FFF2-40B4-BE49-F238E27FC236}">
                <a16:creationId xmlns:a16="http://schemas.microsoft.com/office/drawing/2014/main" id="{CC79E312-4C97-C9E6-6588-314E7D7122C2}"/>
              </a:ext>
            </a:extLst>
          </p:cNvPr>
          <p:cNvSpPr txBox="1"/>
          <p:nvPr/>
        </p:nvSpPr>
        <p:spPr>
          <a:xfrm>
            <a:off x="359100" y="6784875"/>
            <a:ext cx="7079661" cy="2246769"/>
          </a:xfrm>
          <a:prstGeom prst="rect">
            <a:avLst/>
          </a:prstGeom>
          <a:noFill/>
        </p:spPr>
        <p:txBody>
          <a:bodyPr wrap="square">
            <a:spAutoFit/>
          </a:bodyPr>
          <a:lstStyle/>
          <a:p>
            <a:r>
              <a:rPr lang="en-US" sz="2000" dirty="0"/>
              <a:t>RESULTS:</a:t>
            </a:r>
          </a:p>
          <a:p>
            <a:r>
              <a:rPr lang="en-US" sz="2000" dirty="0"/>
              <a:t>I was able to complete the project by working away at it piece by piece every day as I had to also balance work from other courses.</a:t>
            </a:r>
          </a:p>
          <a:p>
            <a:r>
              <a:rPr lang="en-US" sz="2000" dirty="0"/>
              <a:t>Mating some of the parts at the dimensioning of it proved to challenging as some of the dimensions were slightly ambiguous, but I was able to figure those out and the special welding pieces by consulting our professor and a few friends in the class.</a:t>
            </a:r>
          </a:p>
        </p:txBody>
      </p:sp>
    </p:spTree>
    <p:extLst>
      <p:ext uri="{BB962C8B-B14F-4D97-AF65-F5344CB8AC3E}">
        <p14:creationId xmlns:p14="http://schemas.microsoft.com/office/powerpoint/2010/main" val="38570268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082FC-D3B3-AFBD-26A0-13E97AF8E270}"/>
            </a:ext>
          </a:extLst>
        </p:cNvPr>
        <p:cNvGrpSpPr/>
        <p:nvPr/>
      </p:nvGrpSpPr>
      <p:grpSpPr>
        <a:xfrm>
          <a:off x="0" y="0"/>
          <a:ext cx="0" cy="0"/>
          <a:chOff x="0" y="0"/>
          <a:chExt cx="0" cy="0"/>
        </a:xfrm>
      </p:grpSpPr>
      <p:pic>
        <p:nvPicPr>
          <p:cNvPr id="4" name="Content Placeholder 4">
            <a:extLst>
              <a:ext uri="{FF2B5EF4-FFF2-40B4-BE49-F238E27FC236}">
                <a16:creationId xmlns:a16="http://schemas.microsoft.com/office/drawing/2014/main" id="{36BA23BF-2BC5-F686-A433-1949E3D72D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8741" y="345363"/>
            <a:ext cx="4765964" cy="5236424"/>
          </a:xfrm>
          <a:prstGeom prst="rect">
            <a:avLst/>
          </a:prstGeom>
        </p:spPr>
      </p:pic>
      <p:pic>
        <p:nvPicPr>
          <p:cNvPr id="5" name="Picture 4">
            <a:extLst>
              <a:ext uri="{FF2B5EF4-FFF2-40B4-BE49-F238E27FC236}">
                <a16:creationId xmlns:a16="http://schemas.microsoft.com/office/drawing/2014/main" id="{37EC91D2-F67E-2CCF-5070-AA844E4F5C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2182" y="4581708"/>
            <a:ext cx="3831477" cy="5336551"/>
          </a:xfrm>
          <a:prstGeom prst="rect">
            <a:avLst/>
          </a:prstGeom>
        </p:spPr>
      </p:pic>
    </p:spTree>
    <p:extLst>
      <p:ext uri="{BB962C8B-B14F-4D97-AF65-F5344CB8AC3E}">
        <p14:creationId xmlns:p14="http://schemas.microsoft.com/office/powerpoint/2010/main" val="34215364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6153F2-0D63-33EC-C966-F7565FA68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FDD81B-233A-459E-737B-5800A5278FB1}"/>
              </a:ext>
            </a:extLst>
          </p:cNvPr>
          <p:cNvSpPr>
            <a:spLocks noGrp="1"/>
          </p:cNvSpPr>
          <p:nvPr>
            <p:ph type="title"/>
          </p:nvPr>
        </p:nvSpPr>
        <p:spPr>
          <a:xfrm>
            <a:off x="104374" y="126409"/>
            <a:ext cx="5047092" cy="1743456"/>
          </a:xfrm>
        </p:spPr>
        <p:txBody>
          <a:bodyPr/>
          <a:lstStyle/>
          <a:p>
            <a:r>
              <a:rPr lang="en-US" dirty="0"/>
              <a:t>Isometric Views</a:t>
            </a:r>
            <a:br>
              <a:rPr lang="en-US" dirty="0"/>
            </a:br>
            <a:r>
              <a:rPr lang="en-US" dirty="0"/>
              <a:t>+</a:t>
            </a:r>
            <a:br>
              <a:rPr lang="en-US" dirty="0"/>
            </a:br>
            <a:r>
              <a:rPr lang="en-US" dirty="0"/>
              <a:t>Assembly Mating</a:t>
            </a:r>
            <a:br>
              <a:rPr lang="en-US" dirty="0"/>
            </a:br>
            <a:r>
              <a:rPr lang="en-US" dirty="0"/>
              <a:t>(Fall ’24 - Spring ’25)</a:t>
            </a:r>
          </a:p>
        </p:txBody>
      </p:sp>
      <p:pic>
        <p:nvPicPr>
          <p:cNvPr id="5" name="Content Placeholder 4">
            <a:extLst>
              <a:ext uri="{FF2B5EF4-FFF2-40B4-BE49-F238E27FC236}">
                <a16:creationId xmlns:a16="http://schemas.microsoft.com/office/drawing/2014/main" id="{73015F10-759E-7750-E5DC-0ADC83E4317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24280" b="6595"/>
          <a:stretch>
            <a:fillRect/>
          </a:stretch>
        </p:blipFill>
        <p:spPr>
          <a:xfrm>
            <a:off x="239775" y="2189018"/>
            <a:ext cx="3558854" cy="3144982"/>
          </a:xfrm>
          <a:prstGeom prst="rect">
            <a:avLst/>
          </a:prstGeom>
        </p:spPr>
      </p:pic>
      <p:pic>
        <p:nvPicPr>
          <p:cNvPr id="7" name="Picture 6">
            <a:extLst>
              <a:ext uri="{FF2B5EF4-FFF2-40B4-BE49-F238E27FC236}">
                <a16:creationId xmlns:a16="http://schemas.microsoft.com/office/drawing/2014/main" id="{D31E9F2C-3F13-B6C2-A08C-13D286EA44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3019" y="6301879"/>
            <a:ext cx="3433112" cy="3158464"/>
          </a:xfrm>
          <a:prstGeom prst="rect">
            <a:avLst/>
          </a:prstGeom>
        </p:spPr>
      </p:pic>
      <p:pic>
        <p:nvPicPr>
          <p:cNvPr id="9" name="Picture 8" descr="Cleveland State University Logo Download png">
            <a:extLst>
              <a:ext uri="{FF2B5EF4-FFF2-40B4-BE49-F238E27FC236}">
                <a16:creationId xmlns:a16="http://schemas.microsoft.com/office/drawing/2014/main" id="{D047316F-7AD4-4E2B-6BC9-70070759ADBB}"/>
              </a:ext>
            </a:extLst>
          </p:cNvPr>
          <p:cNvPicPr>
            <a:picLocks noChangeAspect="1"/>
          </p:cNvPicPr>
          <p:nvPr/>
        </p:nvPicPr>
        <p:blipFill>
          <a:blip r:embed="rId4"/>
          <a:stretch>
            <a:fillRect/>
          </a:stretch>
        </p:blipFill>
        <p:spPr>
          <a:xfrm>
            <a:off x="5679575" y="126409"/>
            <a:ext cx="1868337" cy="1900004"/>
          </a:xfrm>
          <a:prstGeom prst="rect">
            <a:avLst/>
          </a:prstGeom>
        </p:spPr>
      </p:pic>
      <p:sp>
        <p:nvSpPr>
          <p:cNvPr id="11" name="TextBox 10">
            <a:extLst>
              <a:ext uri="{FF2B5EF4-FFF2-40B4-BE49-F238E27FC236}">
                <a16:creationId xmlns:a16="http://schemas.microsoft.com/office/drawing/2014/main" id="{1A7642BC-CAB5-4507-FE10-573386AA174E}"/>
              </a:ext>
            </a:extLst>
          </p:cNvPr>
          <p:cNvSpPr txBox="1"/>
          <p:nvPr/>
        </p:nvSpPr>
        <p:spPr>
          <a:xfrm>
            <a:off x="167542" y="5976556"/>
            <a:ext cx="3703320" cy="3785652"/>
          </a:xfrm>
          <a:prstGeom prst="rect">
            <a:avLst/>
          </a:prstGeom>
          <a:noFill/>
        </p:spPr>
        <p:txBody>
          <a:bodyPr wrap="square">
            <a:spAutoFit/>
          </a:bodyPr>
          <a:lstStyle/>
          <a:p>
            <a:r>
              <a:rPr lang="en-US" sz="2000" dirty="0"/>
              <a:t>We also learned how to download parts from a toolbox and input them into SOLIDWORKS to create an assembly, where we would then mate and link them together to create a working machine.</a:t>
            </a:r>
          </a:p>
          <a:p>
            <a:endParaRPr lang="en-US" sz="2000" dirty="0"/>
          </a:p>
          <a:p>
            <a:r>
              <a:rPr lang="en-US" sz="2000" dirty="0"/>
              <a:t>To the right is a contraption we made from individual parts to spin a wheel and make a propeller spin.</a:t>
            </a:r>
          </a:p>
        </p:txBody>
      </p:sp>
      <p:sp>
        <p:nvSpPr>
          <p:cNvPr id="13" name="TextBox 12">
            <a:extLst>
              <a:ext uri="{FF2B5EF4-FFF2-40B4-BE49-F238E27FC236}">
                <a16:creationId xmlns:a16="http://schemas.microsoft.com/office/drawing/2014/main" id="{E9A3F74A-4FD1-AE33-7D71-FE1222C1D16D}"/>
              </a:ext>
            </a:extLst>
          </p:cNvPr>
          <p:cNvSpPr txBox="1"/>
          <p:nvPr/>
        </p:nvSpPr>
        <p:spPr>
          <a:xfrm>
            <a:off x="3963019" y="2268660"/>
            <a:ext cx="3703320" cy="3477875"/>
          </a:xfrm>
          <a:prstGeom prst="rect">
            <a:avLst/>
          </a:prstGeom>
          <a:noFill/>
        </p:spPr>
        <p:txBody>
          <a:bodyPr wrap="square">
            <a:spAutoFit/>
          </a:bodyPr>
          <a:lstStyle/>
          <a:p>
            <a:r>
              <a:rPr lang="en-US" sz="2000" dirty="0"/>
              <a:t>As apart of our Computer Aided Engineering courses, we learned the introduction to analyzing geometric views and converting them to isometric, and vice versa.</a:t>
            </a:r>
          </a:p>
          <a:p>
            <a:endParaRPr lang="en-US" sz="2000" dirty="0"/>
          </a:p>
          <a:p>
            <a:r>
              <a:rPr lang="en-US" sz="2000" dirty="0"/>
              <a:t>To the left is one of our first examples of it, where we were provided the main image (left) and then had to draw each side of it (right).</a:t>
            </a:r>
          </a:p>
        </p:txBody>
      </p:sp>
    </p:spTree>
    <p:extLst>
      <p:ext uri="{BB962C8B-B14F-4D97-AF65-F5344CB8AC3E}">
        <p14:creationId xmlns:p14="http://schemas.microsoft.com/office/powerpoint/2010/main" val="1492452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44050-0ED4-D20D-8ABE-4918BC4BA55F}"/>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FB10F88E-1737-5EC3-87BE-DB6A1EEBF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120" y="4517122"/>
            <a:ext cx="5756157" cy="5333475"/>
          </a:xfrm>
          <a:prstGeom prst="rect">
            <a:avLst/>
          </a:prstGeom>
        </p:spPr>
      </p:pic>
      <p:pic>
        <p:nvPicPr>
          <p:cNvPr id="17" name="Picture 16">
            <a:extLst>
              <a:ext uri="{FF2B5EF4-FFF2-40B4-BE49-F238E27FC236}">
                <a16:creationId xmlns:a16="http://schemas.microsoft.com/office/drawing/2014/main" id="{D434B46B-006F-2968-2450-67EFA86BE1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8121" y="0"/>
            <a:ext cx="5756157" cy="4821397"/>
          </a:xfrm>
          <a:prstGeom prst="rect">
            <a:avLst/>
          </a:prstGeom>
        </p:spPr>
      </p:pic>
    </p:spTree>
    <p:extLst>
      <p:ext uri="{BB962C8B-B14F-4D97-AF65-F5344CB8AC3E}">
        <p14:creationId xmlns:p14="http://schemas.microsoft.com/office/powerpoint/2010/main" val="2168568526"/>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71068715-a49e-4147-a32d-71fcc21ff028"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4DBC148665DF249B2D712B084E35BFE" ma:contentTypeVersion="12" ma:contentTypeDescription="Create a new document." ma:contentTypeScope="" ma:versionID="9b87b8b9c1d30a233027de9a93df9102">
  <xsd:schema xmlns:xsd="http://www.w3.org/2001/XMLSchema" xmlns:xs="http://www.w3.org/2001/XMLSchema" xmlns:p="http://schemas.microsoft.com/office/2006/metadata/properties" xmlns:ns3="71068715-a49e-4147-a32d-71fcc21ff028" targetNamespace="http://schemas.microsoft.com/office/2006/metadata/properties" ma:root="true" ma:fieldsID="ca3ab22040ce2b9938be9af1f8b55cd9" ns3:_="">
    <xsd:import namespace="71068715-a49e-4147-a32d-71fcc21ff028"/>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element ref="ns3:MediaServiceSystemTags"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068715-a49e-4147-a32d-71fcc21ff028"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element name="MediaServiceSystemTags" ma:index="14" nillable="true" ma:displayName="MediaServiceSystemTags" ma:hidden="true" ma:internalName="MediaServiceSystemTags" ma:readOnly="true">
      <xsd:simpleType>
        <xsd:restriction base="dms:Note"/>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D839944-5813-41C1-B06C-2327CBBA1B7F}">
  <ds:schemaRefs>
    <ds:schemaRef ds:uri="http://schemas.microsoft.com/office/2006/documentManagement/types"/>
    <ds:schemaRef ds:uri="http://www.w3.org/XML/1998/namespace"/>
    <ds:schemaRef ds:uri="http://purl.org/dc/dcmitype/"/>
    <ds:schemaRef ds:uri="http://schemas.microsoft.com/office/2006/metadata/properties"/>
    <ds:schemaRef ds:uri="71068715-a49e-4147-a32d-71fcc21ff028"/>
    <ds:schemaRef ds:uri="http://purl.org/dc/terms/"/>
    <ds:schemaRef ds:uri="http://schemas.openxmlformats.org/package/2006/metadata/core-properties"/>
    <ds:schemaRef ds:uri="http://schemas.microsoft.com/office/infopath/2007/PartnerControls"/>
    <ds:schemaRef ds:uri="http://purl.org/dc/elements/1.1/"/>
  </ds:schemaRefs>
</ds:datastoreItem>
</file>

<file path=customXml/itemProps2.xml><?xml version="1.0" encoding="utf-8"?>
<ds:datastoreItem xmlns:ds="http://schemas.openxmlformats.org/officeDocument/2006/customXml" ds:itemID="{E3CA903D-A565-476A-8CBC-A4718534495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068715-a49e-4147-a32d-71fcc21ff0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AB60FAC-0918-40C8-BD3F-19736E627B5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TM10001115[[fn=Parcel]]</Template>
  <TotalTime>3480</TotalTime>
  <Words>1183</Words>
  <Application>Microsoft Office PowerPoint</Application>
  <PresentationFormat>Custom</PresentationFormat>
  <Paragraphs>76</Paragraphs>
  <Slides>12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Gill Sans MT</vt:lpstr>
      <vt:lpstr>Parcel</vt:lpstr>
      <vt:lpstr>Engineering Portfolio</vt:lpstr>
      <vt:lpstr>PowerPoint Presentation</vt:lpstr>
      <vt:lpstr>MACHINED Aluminum Block (Fall ‘25)</vt:lpstr>
      <vt:lpstr>PowerPoint Presentation</vt:lpstr>
      <vt:lpstr>Vise Grip (Fall ‘25)</vt:lpstr>
      <vt:lpstr>Magnetic Rechargeable Flashlight (Fall ’24)</vt:lpstr>
      <vt:lpstr>Scissor Lift (Summer ‘26)</vt:lpstr>
      <vt:lpstr>PowerPoint Presentation</vt:lpstr>
      <vt:lpstr>Assembly + Welding Special Parts (Spring ‘25)</vt:lpstr>
      <vt:lpstr>PowerPoint Presentation</vt:lpstr>
      <vt:lpstr>Isometric Views + Assembly Mating (Fall ’24 - Spring ’25)</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Mathew M Jackson</dc:creator>
  <cp:lastModifiedBy>Mathew M Jackson</cp:lastModifiedBy>
  <cp:revision>6</cp:revision>
  <dcterms:created xsi:type="dcterms:W3CDTF">2026-07-10T15:55:35Z</dcterms:created>
  <dcterms:modified xsi:type="dcterms:W3CDTF">2026-08-07T01:41:24Z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0x01010054DBC148665DF249B2D712B084E35BFE</vt:lpwstr>
  </property>
</Properties>
</file>